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43"/>
    <p:sldId id="259" r:id="rId5"/>
    <p:sldId id="260" r:id="rId6"/>
    <p:sldId id="268" r:id="rId44"/>
    <p:sldId id="263" r:id="rId9"/>
    <p:sldId id="269" r:id="rId45"/>
    <p:sldId id="270" r:id="rId46"/>
    <p:sldId id="261" r:id="rId7"/>
    <p:sldId id="262" r:id="rId8"/>
    <p:sldId id="264" r:id="rId10"/>
    <p:sldId id="265" r:id="rId11"/>
    <p:sldId id="266" r:id="rId12"/>
  </p:sldIdLst>
  <p:sldSz cx="12192000" cy="6858000"/>
  <p:notesSz cx="12192000" cy="6858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Fira Code" panose="020B0604020202020204" charset="0"/>
      <p:bold r:id="rId18"/>
    </p:embeddedFont>
    <p:embeddedFont>
      <p:font typeface="Fira Code Medium" panose="020B0604020202020204" charset="0"/>
      <p:regular r:id="rId19"/>
      <p:bold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Inter" panose="020B0604020202020204" charset="0"/>
      <p:bold r:id="rId25"/>
      <p:boldItalic r:id="rId26"/>
    </p:embeddedFont>
    <p:embeddedFont>
      <p:font typeface="Inter ExtraBold" panose="020B0604020202020204" charset="0"/>
      <p:bold r:id="rId27"/>
      <p:boldItalic r:id="rId28"/>
    </p:embeddedFont>
    <p:embeddedFont>
      <p:font typeface="Inter Medium" panose="020B0604020202020204" charset="0"/>
      <p:regular r:id="rId29"/>
      <p:bold r:id="rId30"/>
      <p:italic r:id="rId31"/>
      <p:boldItalic r:id="rId32"/>
    </p:embeddedFont>
    <p:embeddedFont>
      <p:font typeface="Inter SemiBold" panose="020B0604020202020204" charset="0"/>
      <p:regular r:id="rId33"/>
      <p:bold r:id="rId34"/>
      <p:italic r:id="rId35"/>
      <p:boldItalic r:id="rId36"/>
    </p:embeddedFont>
    <p:embeddedFont>
      <p:font typeface="Space Grotesk" panose="020B0604020202020204" charset="0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MJDsVGgpDN84gr/jChgHPt/J0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9D7CE9-3E9B-4E1B-8E02-99D5D7299D64}">
  <a:tblStyle styleId="{FA9D7CE9-3E9B-4E1B-8E02-99D5D7299D6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0" y="35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8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font" Target="fonts/font13.fntdata"/><Relationship Id="rId27" Type="http://schemas.openxmlformats.org/officeDocument/2006/relationships/font" Target="fonts/font14.fntdata"/><Relationship Id="rId28" Type="http://schemas.openxmlformats.org/officeDocument/2006/relationships/font" Target="fonts/font15.fntdata"/><Relationship Id="rId29" Type="http://schemas.openxmlformats.org/officeDocument/2006/relationships/font" Target="fonts/font16.fntdata"/><Relationship Id="rId30" Type="http://schemas.openxmlformats.org/officeDocument/2006/relationships/font" Target="fonts/font17.fntdata"/><Relationship Id="rId31" Type="http://schemas.openxmlformats.org/officeDocument/2006/relationships/font" Target="fonts/font18.fntdata"/><Relationship Id="rId32" Type="http://schemas.openxmlformats.org/officeDocument/2006/relationships/font" Target="fonts/font19.fntdata"/><Relationship Id="rId33" Type="http://schemas.openxmlformats.org/officeDocument/2006/relationships/font" Target="fonts/font20.fntdata"/><Relationship Id="rId34" Type="http://schemas.openxmlformats.org/officeDocument/2006/relationships/font" Target="fonts/font21.fntdata"/><Relationship Id="rId35" Type="http://schemas.openxmlformats.org/officeDocument/2006/relationships/font" Target="fonts/font22.fntdata"/><Relationship Id="rId36" Type="http://schemas.openxmlformats.org/officeDocument/2006/relationships/font" Target="fonts/font23.fntdata"/><Relationship Id="rId37" Type="http://schemas.openxmlformats.org/officeDocument/2006/relationships/font" Target="fonts/font24.fntdata"/><Relationship Id="rId38" Type="http://customschemas.google.com/relationships/presentationmetadata" Target="metadata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4.xml"/><Relationship Id="rId44" Type="http://schemas.openxmlformats.org/officeDocument/2006/relationships/slide" Target="slides/slide7.xml"/><Relationship Id="rId45" Type="http://schemas.openxmlformats.org/officeDocument/2006/relationships/slide" Target="slides/slide9.xml"/><Relationship Id="rId4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00" cy="25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0" name="Google Shape;2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7" name="Google Shape;3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2" name="Google Shape;3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6" name="Google Shape;3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596899" y="542988"/>
            <a:ext cx="9095740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 b="1" i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5432325" y="1331756"/>
            <a:ext cx="6040755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>
                <a:solidFill>
                  <a:srgbClr val="164A8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 b="1" i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>
                <a:solidFill>
                  <a:srgbClr val="164A8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596899" y="542988"/>
            <a:ext cx="9095740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 b="1" i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596899" y="542988"/>
            <a:ext cx="9095740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900" b="1" i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4F8FB"/>
            </a:gs>
            <a:gs pos="74000">
              <a:srgbClr val="AEC5E1"/>
            </a:gs>
            <a:gs pos="83000">
              <a:srgbClr val="AEC5E1"/>
            </a:gs>
            <a:gs pos="100000">
              <a:srgbClr val="C8D8EB"/>
            </a:gs>
          </a:gsLst>
          <a:lin ang="54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596899" y="542988"/>
            <a:ext cx="9095740" cy="46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1" i="0" u="none" strike="noStrike" cap="none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5432325" y="1331756"/>
            <a:ext cx="6040755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300" b="1" i="0" u="none" strike="noStrike" cap="none">
                <a:solidFill>
                  <a:srgbClr val="164A8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" name="Google Shape;45;p1"/>
          <p:cNvGrpSpPr/>
          <p:nvPr/>
        </p:nvGrpSpPr>
        <p:grpSpPr>
          <a:xfrm>
            <a:off x="762000" y="571500"/>
            <a:ext cx="8953500" cy="2686200"/>
            <a:chOff x="0" y="0"/>
            <a:chExt cx="8953500" cy="2686200"/>
          </a:xfrm>
        </p:grpSpPr>
        <p:sp>
          <p:nvSpPr>
            <p:cNvPr id="46" name="Google Shape;46;p1"/>
            <p:cNvSpPr/>
            <p:nvPr/>
          </p:nvSpPr>
          <p:spPr>
            <a:xfrm>
              <a:off x="0" y="0"/>
              <a:ext cx="3333900" cy="3240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"/>
            <p:cNvSpPr txBox="1"/>
            <p:nvPr/>
          </p:nvSpPr>
          <p:spPr>
            <a:xfrm>
              <a:off x="0" y="0"/>
              <a:ext cx="33339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MID-SEM — CS801 COMPUTING LAB</a:t>
              </a:r>
              <a:endParaRPr sz="1050" b="1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8" name="Google Shape;48;p1"/>
            <p:cNvSpPr txBox="1"/>
            <p:nvPr/>
          </p:nvSpPr>
          <p:spPr>
            <a:xfrm>
              <a:off x="0" y="495300"/>
              <a:ext cx="89535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Real-Time Driver Drowsiness Detection</a:t>
              </a:r>
              <a:endParaRPr sz="40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2200" b="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with Condition-Aware Adaptive Signal Fusion</a:t>
              </a:r>
              <a:endParaRPr sz="2200" b="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Department of Computer Science and Engineering, National Institute of Technology Karnataka, Surathkal</a:t>
              </a:r>
              <a:endParaRPr sz="1300" b="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3895725"/>
            <a:ext cx="83820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1"/>
          <p:cNvGrpSpPr/>
          <p:nvPr/>
        </p:nvGrpSpPr>
        <p:grpSpPr>
          <a:xfrm>
            <a:off x="762000" y="4286250"/>
            <a:ext cx="5143500" cy="1809600"/>
            <a:chOff x="0" y="0"/>
            <a:chExt cx="5143500" cy="1809600"/>
          </a:xfrm>
        </p:grpSpPr>
        <p:sp>
          <p:nvSpPr>
            <p:cNvPr id="51" name="Google Shape;51;p1"/>
            <p:cNvSpPr/>
            <p:nvPr/>
          </p:nvSpPr>
          <p:spPr>
            <a:xfrm>
              <a:off x="0" y="0"/>
              <a:ext cx="5143500" cy="180960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0" y="0"/>
              <a:ext cx="76200" cy="18096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304800" y="228600"/>
              <a:ext cx="1238400" cy="247800"/>
            </a:xfrm>
            <a:prstGeom prst="roundRect">
              <a:avLst>
                <a:gd name="adj" fmla="val 23076"/>
              </a:avLst>
            </a:prstGeom>
            <a:solidFill>
              <a:srgbClr val="EFF6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"/>
            <p:cNvSpPr txBox="1"/>
            <p:nvPr/>
          </p:nvSpPr>
          <p:spPr>
            <a:xfrm>
              <a:off x="304800" y="228600"/>
              <a:ext cx="1238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PRESENTER 01</a:t>
              </a:r>
              <a:endParaRPr sz="950" b="1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5" name="Google Shape;55;p1"/>
            <p:cNvSpPr txBox="1"/>
            <p:nvPr/>
          </p:nvSpPr>
          <p:spPr>
            <a:xfrm>
              <a:off x="304800" y="590550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Yagnang Acharya</a:t>
              </a:r>
              <a:endParaRPr sz="2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Roll No.: </a:t>
              </a:r>
              <a:r>
                <a:rPr lang="en-US" sz="1300" b="1">
                  <a:solidFill>
                    <a:srgbClr val="2563EB"/>
                  </a:solidFill>
                  <a:latin typeface="Fira Code"/>
                  <a:ea typeface="Fira Code"/>
                  <a:cs typeface="Fira Code"/>
                  <a:sym typeface="Fira Code"/>
                </a:rPr>
                <a:t>262IS037</a:t>
              </a:r>
              <a:endParaRPr sz="1300"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grpSp>
        <p:nvGrpSpPr>
          <p:cNvPr id="56" name="Google Shape;56;p1"/>
          <p:cNvGrpSpPr/>
          <p:nvPr/>
        </p:nvGrpSpPr>
        <p:grpSpPr>
          <a:xfrm>
            <a:off x="6286500" y="4286250"/>
            <a:ext cx="5143500" cy="1809600"/>
            <a:chOff x="0" y="0"/>
            <a:chExt cx="5143500" cy="1809600"/>
          </a:xfrm>
        </p:grpSpPr>
        <p:sp>
          <p:nvSpPr>
            <p:cNvPr id="57" name="Google Shape;57;p1"/>
            <p:cNvSpPr/>
            <p:nvPr/>
          </p:nvSpPr>
          <p:spPr>
            <a:xfrm>
              <a:off x="0" y="0"/>
              <a:ext cx="5143500" cy="180960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0" y="0"/>
              <a:ext cx="76200" cy="18096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304800" y="228600"/>
              <a:ext cx="1238400" cy="247800"/>
            </a:xfrm>
            <a:prstGeom prst="roundRect">
              <a:avLst>
                <a:gd name="adj" fmla="val 23076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"/>
            <p:cNvSpPr txBox="1"/>
            <p:nvPr/>
          </p:nvSpPr>
          <p:spPr>
            <a:xfrm>
              <a:off x="304800" y="228600"/>
              <a:ext cx="12384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PRESENTER 02</a:t>
              </a:r>
              <a:endParaRPr sz="950" b="1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"/>
            <p:cNvSpPr txBox="1"/>
            <p:nvPr/>
          </p:nvSpPr>
          <p:spPr>
            <a:xfrm>
              <a:off x="304800" y="590550"/>
              <a:ext cx="4572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Akash Minz</a:t>
              </a:r>
              <a:endParaRPr sz="24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475569"/>
                  </a:solidFill>
                  <a:latin typeface="Fira Code Medium"/>
                  <a:ea typeface="Fira Code Medium"/>
                  <a:cs typeface="Fira Code Medium"/>
                  <a:sym typeface="Fira Code Medium"/>
                </a:rPr>
                <a:t>Roll No.: </a:t>
              </a:r>
              <a:r>
                <a:rPr lang="en-US" sz="1300" b="1">
                  <a:solidFill>
                    <a:srgbClr val="0EA5E9"/>
                  </a:solidFill>
                  <a:latin typeface="Fira Code"/>
                  <a:ea typeface="Fira Code"/>
                  <a:cs typeface="Fira Code"/>
                  <a:sym typeface="Fira Code"/>
                </a:rPr>
                <a:t>262IS002</a:t>
              </a:r>
              <a:endParaRPr sz="1300"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pic>
        <p:nvPicPr>
          <p:cNvPr id="62" name="Google Shape;62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0639" y="571500"/>
            <a:ext cx="1413710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772400" y="-1524000"/>
            <a:ext cx="5334000" cy="5334000"/>
          </a:xfrm>
          <a:prstGeom prst="ellipse">
            <a:avLst/>
          </a:prstGeom>
          <a:solidFill>
            <a:srgbClr val="E0F2FE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2"/>
          <p:cNvGrpSpPr/>
          <p:nvPr/>
        </p:nvGrpSpPr>
        <p:grpSpPr>
          <a:xfrm>
            <a:off x="762000" y="457200"/>
            <a:ext cx="2000100" cy="304800"/>
            <a:chOff x="0" y="0"/>
            <a:chExt cx="2000100" cy="304800"/>
          </a:xfrm>
        </p:grpSpPr>
        <p:sp>
          <p:nvSpPr>
            <p:cNvPr id="70" name="Google Shape;70;p2"/>
            <p:cNvSpPr/>
            <p:nvPr/>
          </p:nvSpPr>
          <p:spPr>
            <a:xfrm>
              <a:off x="0" y="0"/>
              <a:ext cx="20001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 txBox="1"/>
            <p:nvPr/>
          </p:nvSpPr>
          <p:spPr>
            <a:xfrm>
              <a:off x="0" y="0"/>
              <a:ext cx="2000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PROBLEM &amp; MOTIVATION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72" name="Google Shape;72;p2"/>
          <p:cNvSpPr txBox="1"/>
          <p:nvPr/>
        </p:nvSpPr>
        <p:spPr>
          <a:xfrm>
            <a:off x="762000" y="8763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Fixed fusion weights don't survive real driving conditions.</a:t>
            </a:r>
            <a:endParaRPr sz="2800" b="0" i="0" u="none" strike="noStrike" cap="non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762000" y="1600200"/>
            <a:ext cx="3352800" cy="3276600"/>
            <a:chOff x="0" y="0"/>
            <a:chExt cx="3352800" cy="3276600"/>
          </a:xfrm>
        </p:grpSpPr>
        <p:sp>
          <p:nvSpPr>
            <p:cNvPr id="74" name="Google Shape;74;p2"/>
            <p:cNvSpPr/>
            <p:nvPr/>
          </p:nvSpPr>
          <p:spPr>
            <a:xfrm>
              <a:off x="0" y="0"/>
              <a:ext cx="3352800" cy="327660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228600" y="228600"/>
              <a:ext cx="28956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 / CONTEXT &amp; NEED</a:t>
              </a:r>
              <a:endParaRPr sz="11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Safety risk:</a:t>
              </a:r>
              <a:r>
                <a:rPr lang="en-US" sz="1300" b="0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driver drowsiness can lead to delayed reaction and accidents.</a:t>
              </a:r>
              <a:endParaRPr sz="13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Non-contact option:</a:t>
              </a:r>
              <a:r>
                <a:rPr lang="en-US" sz="13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vision-based systems provide a non-contact solution.</a:t>
              </a:r>
              <a:endParaRPr sz="13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419600" y="1600200"/>
            <a:ext cx="3352800" cy="3276600"/>
            <a:chOff x="0" y="0"/>
            <a:chExt cx="3352800" cy="3276600"/>
          </a:xfrm>
        </p:grpSpPr>
        <p:sp>
          <p:nvSpPr>
            <p:cNvPr id="78" name="Google Shape;78;p2"/>
            <p:cNvSpPr/>
            <p:nvPr/>
          </p:nvSpPr>
          <p:spPr>
            <a:xfrm>
              <a:off x="0" y="0"/>
              <a:ext cx="3352800" cy="327660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228600" y="228600"/>
              <a:ext cx="28956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 / CURRENT BASELINE</a:t>
              </a:r>
              <a:endParaRPr sz="11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Common signals:</a:t>
              </a:r>
              <a:r>
                <a:rPr lang="en-US" sz="1300" b="0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EAR → eye closure, MAR → yawning, Head pose → head movement/tilt.</a:t>
              </a:r>
              <a:endParaRPr sz="13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Problem:</a:t>
              </a:r>
              <a:r>
                <a:rPr lang="en-US" sz="13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many systems use fixed thresholds and fixed fusion weights.</a:t>
              </a:r>
              <a:endParaRPr sz="13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077200" y="1600200"/>
            <a:ext cx="3352800" cy="3276600"/>
            <a:chOff x="0" y="0"/>
            <a:chExt cx="3352800" cy="3276600"/>
          </a:xfrm>
        </p:grpSpPr>
        <p:sp>
          <p:nvSpPr>
            <p:cNvPr id="82" name="Google Shape;82;p2"/>
            <p:cNvSpPr/>
            <p:nvPr/>
          </p:nvSpPr>
          <p:spPr>
            <a:xfrm>
              <a:off x="0" y="0"/>
              <a:ext cx="3352800" cy="3276600"/>
            </a:xfrm>
            <a:prstGeom prst="roundRect">
              <a:avLst>
                <a:gd name="adj" fmla="val 4651"/>
              </a:avLst>
            </a:prstGeom>
            <a:solidFill>
              <a:srgbClr val="FEF2F2"/>
            </a:solidFill>
            <a:ln w="14300" cap="flat" cmpd="sng">
              <a:solidFill>
                <a:srgbClr val="FC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 txBox="1"/>
            <p:nvPr/>
          </p:nvSpPr>
          <p:spPr>
            <a:xfrm>
              <a:off x="228600" y="228600"/>
              <a:ext cx="28956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DC262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 / SYSTEM DEGRADATION</a:t>
              </a:r>
              <a:endParaRPr sz="1100" b="1" i="0" u="none" strike="noStrike" cap="none">
                <a:solidFill>
                  <a:srgbClr val="DC262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Known weakness:</a:t>
              </a:r>
              <a:r>
                <a:rPr lang="en-US" sz="1300" b="0" i="0" u="none" strike="noStrike" cap="none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 landmark-based cues become less reliable under real-world variations.</a:t>
              </a:r>
              <a:endParaRPr sz="13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991B1B"/>
                </a:buClr>
                <a:buSzPts val="1200"/>
                <a:buFont typeface="Inter"/>
                <a:buChar char="●"/>
              </a:pPr>
              <a:r>
                <a:rPr lang="en-US" sz="1200" b="0" i="0" u="none" strike="noStrike" cap="none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Low-light driving conditions</a:t>
              </a:r>
              <a:endParaRPr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991B1B"/>
                </a:buClr>
                <a:buSzPts val="1200"/>
                <a:buFont typeface="Inter"/>
                <a:buChar char="●"/>
              </a:pPr>
              <a:r>
                <a:rPr lang="en-US" sz="1200" b="0" i="0" u="none" strike="noStrike" cap="none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Eyeglasses &amp; eye-region occlusion</a:t>
              </a:r>
              <a:endParaRPr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991B1B"/>
                </a:buClr>
                <a:buSzPts val="1200"/>
                <a:buFont typeface="Inter"/>
                <a:buChar char="●"/>
              </a:pPr>
              <a:r>
                <a:rPr lang="en-US" sz="1200" b="0" i="0" u="none" strike="noStrike" cap="none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Individual facial characteristics</a:t>
              </a:r>
              <a:endParaRPr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2"/>
          <p:cNvGrpSpPr/>
          <p:nvPr/>
        </p:nvGrpSpPr>
        <p:grpSpPr>
          <a:xfrm>
            <a:off x="762000" y="5105400"/>
            <a:ext cx="10668000" cy="1143000"/>
            <a:chOff x="0" y="0"/>
            <a:chExt cx="10668000" cy="1143000"/>
          </a:xfrm>
        </p:grpSpPr>
        <p:sp>
          <p:nvSpPr>
            <p:cNvPr id="86" name="Google Shape;86;p2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0" y="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304800" y="190500"/>
              <a:ext cx="1005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Core Technical Insight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Key idea:</a:t>
              </a:r>
              <a:r>
                <a:rPr lang="en-US" sz="1800" b="1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Adapt the signal contribution according to its estimated reliability.</a:t>
              </a:r>
              <a:endParaRPr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3"/>
          <p:cNvGrpSpPr/>
          <p:nvPr/>
        </p:nvGrpSpPr>
        <p:grpSpPr>
          <a:xfrm>
            <a:off x="762000" y="400050"/>
            <a:ext cx="10668000" cy="876450"/>
            <a:chOff x="0" y="0"/>
            <a:chExt cx="10668000" cy="876450"/>
          </a:xfrm>
        </p:grpSpPr>
        <p:sp>
          <p:nvSpPr>
            <p:cNvPr id="96" name="Google Shape;96;p3"/>
            <p:cNvSpPr/>
            <p:nvPr/>
          </p:nvSpPr>
          <p:spPr>
            <a:xfrm>
              <a:off x="0" y="0"/>
              <a:ext cx="35244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 txBox="1"/>
            <p:nvPr/>
          </p:nvSpPr>
          <p:spPr>
            <a:xfrm>
              <a:off x="0" y="0"/>
              <a:ext cx="352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FROM FIXED FUSION TO CONDITION-AWARE FUSION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98" name="Google Shape;98;p3"/>
            <p:cNvSpPr txBox="1"/>
            <p:nvPr/>
          </p:nvSpPr>
          <p:spPr>
            <a:xfrm>
              <a:off x="0" y="40005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We add one stage: condition detection before fusion.</a:t>
              </a:r>
              <a:endParaRPr sz="26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9" name="Google Shape;99;p3"/>
          <p:cNvGrpSpPr/>
          <p:nvPr/>
        </p:nvGrpSpPr>
        <p:grpSpPr>
          <a:xfrm>
            <a:off x="762000" y="1428750"/>
            <a:ext cx="5143500" cy="4857900"/>
            <a:chOff x="0" y="0"/>
            <a:chExt cx="5143500" cy="4857900"/>
          </a:xfrm>
        </p:grpSpPr>
        <p:sp>
          <p:nvSpPr>
            <p:cNvPr id="100" name="Google Shape;100;p3"/>
            <p:cNvSpPr/>
            <p:nvPr/>
          </p:nvSpPr>
          <p:spPr>
            <a:xfrm>
              <a:off x="0" y="0"/>
              <a:ext cx="5143500" cy="4857900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0" y="0"/>
              <a:ext cx="5143500" cy="5730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 txBox="1"/>
            <p:nvPr/>
          </p:nvSpPr>
          <p:spPr>
            <a:xfrm>
              <a:off x="228600" y="190500"/>
              <a:ext cx="4686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EXISTING APPROACH</a:t>
              </a:r>
              <a:endParaRPr sz="1100" b="1" i="0" u="none" strike="noStrike" cap="non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03" name="Google Shape;103;p3"/>
            <p:cNvGrpSpPr/>
            <p:nvPr/>
          </p:nvGrpSpPr>
          <p:grpSpPr>
            <a:xfrm>
              <a:off x="228600" y="571500"/>
              <a:ext cx="4686450" cy="1762200"/>
              <a:chOff x="0" y="0"/>
              <a:chExt cx="4686450" cy="17622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0" y="0"/>
                <a:ext cx="14289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"/>
              <p:cNvSpPr txBox="1"/>
              <p:nvPr/>
            </p:nvSpPr>
            <p:spPr>
              <a:xfrm>
                <a:off x="114300" y="95250"/>
                <a:ext cx="1200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01</a:t>
                </a:r>
                <a:endParaRPr sz="1100" b="1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Camera</a:t>
                </a:r>
                <a:endParaRPr sz="120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>
                <a:off x="1628775" y="0"/>
                <a:ext cx="14289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3"/>
              <p:cNvSpPr txBox="1"/>
              <p:nvPr/>
            </p:nvSpPr>
            <p:spPr>
              <a:xfrm>
                <a:off x="1743075" y="95250"/>
                <a:ext cx="1200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02</a:t>
                </a:r>
                <a:endParaRPr sz="1100" b="1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Face landmarks</a:t>
                </a:r>
                <a:endParaRPr sz="120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3257550" y="0"/>
                <a:ext cx="14289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"/>
              <p:cNvSpPr txBox="1"/>
              <p:nvPr/>
            </p:nvSpPr>
            <p:spPr>
              <a:xfrm>
                <a:off x="3371850" y="95250"/>
                <a:ext cx="1200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03</a:t>
                </a:r>
                <a:endParaRPr sz="1100" b="1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EAR + MAR + Head pose</a:t>
                </a:r>
                <a:endParaRPr sz="105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" name="Google Shape;110;p3"/>
              <p:cNvSpPr/>
              <p:nvPr/>
            </p:nvSpPr>
            <p:spPr>
              <a:xfrm>
                <a:off x="0" y="952500"/>
                <a:ext cx="22002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3"/>
              <p:cNvSpPr txBox="1"/>
              <p:nvPr/>
            </p:nvSpPr>
            <p:spPr>
              <a:xfrm>
                <a:off x="114300" y="1047750"/>
                <a:ext cx="19716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04</a:t>
                </a:r>
                <a:endParaRPr sz="1100" b="1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Fixed weights</a:t>
                </a:r>
                <a:endParaRPr sz="120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" name="Google Shape;112;p3"/>
              <p:cNvSpPr/>
              <p:nvPr/>
            </p:nvSpPr>
            <p:spPr>
              <a:xfrm>
                <a:off x="2343150" y="952500"/>
                <a:ext cx="23433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3"/>
              <p:cNvSpPr txBox="1"/>
              <p:nvPr/>
            </p:nvSpPr>
            <p:spPr>
              <a:xfrm>
                <a:off x="2457450" y="1047750"/>
                <a:ext cx="21147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05</a:t>
                </a:r>
                <a:endParaRPr sz="1100" b="1" i="0" u="none" strike="noStrike" cap="non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Drowsiness decision</a:t>
                </a:r>
                <a:endParaRPr sz="120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4" name="Google Shape;114;p3"/>
            <p:cNvGrpSpPr/>
            <p:nvPr/>
          </p:nvGrpSpPr>
          <p:grpSpPr>
            <a:xfrm>
              <a:off x="228600" y="3619500"/>
              <a:ext cx="4686300" cy="1000200"/>
              <a:chOff x="0" y="0"/>
              <a:chExt cx="4686300" cy="1000200"/>
            </a:xfrm>
          </p:grpSpPr>
          <p:sp>
            <p:nvSpPr>
              <p:cNvPr id="115" name="Google Shape;115;p3"/>
              <p:cNvSpPr/>
              <p:nvPr/>
            </p:nvSpPr>
            <p:spPr>
              <a:xfrm>
                <a:off x="0" y="0"/>
                <a:ext cx="4686300" cy="1000200"/>
              </a:xfrm>
              <a:prstGeom prst="roundRect">
                <a:avLst>
                  <a:gd name="adj" fmla="val 11428"/>
                </a:avLst>
              </a:prstGeom>
              <a:solidFill>
                <a:srgbClr val="F1F5F9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"/>
              <p:cNvSpPr txBox="1"/>
              <p:nvPr/>
            </p:nvSpPr>
            <p:spPr>
              <a:xfrm>
                <a:off x="190500" y="142875"/>
                <a:ext cx="43053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Existing behavior:</a:t>
                </a:r>
                <a:endParaRPr sz="1200" b="1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Every signal keeps the same contribution regardless of environmental changes.</a:t>
                </a:r>
                <a:endParaRPr sz="110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7" name="Google Shape;117;p3"/>
          <p:cNvGrpSpPr/>
          <p:nvPr/>
        </p:nvGrpSpPr>
        <p:grpSpPr>
          <a:xfrm>
            <a:off x="6286500" y="1419225"/>
            <a:ext cx="5153100" cy="4867425"/>
            <a:chOff x="0" y="-9525"/>
            <a:chExt cx="5153100" cy="4867425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5143500" cy="4857900"/>
            </a:xfrm>
            <a:prstGeom prst="roundRect">
              <a:avLst>
                <a:gd name="adj" fmla="val 3137"/>
              </a:avLst>
            </a:prstGeom>
            <a:solidFill>
              <a:srgbClr val="FFFFFF"/>
            </a:solidFill>
            <a:ln w="19050" cap="flat" cmpd="sng">
              <a:solidFill>
                <a:srgbClr val="2563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9600" y="-9525"/>
              <a:ext cx="5143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28600" y="190500"/>
              <a:ext cx="46863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PROPOSED APPROACH (CONDITION-AWARE)</a:t>
              </a:r>
              <a:endParaRPr sz="11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121" name="Google Shape;121;p3"/>
            <p:cNvGrpSpPr/>
            <p:nvPr/>
          </p:nvGrpSpPr>
          <p:grpSpPr>
            <a:xfrm>
              <a:off x="228600" y="571500"/>
              <a:ext cx="4686450" cy="2533650"/>
              <a:chOff x="0" y="0"/>
              <a:chExt cx="4686450" cy="2533650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0" y="0"/>
                <a:ext cx="14289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"/>
              <p:cNvSpPr txBox="1"/>
              <p:nvPr/>
            </p:nvSpPr>
            <p:spPr>
              <a:xfrm>
                <a:off x="114300" y="95250"/>
                <a:ext cx="1200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01</a:t>
                </a:r>
                <a:endParaRPr sz="1100" b="1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Camera</a:t>
                </a:r>
                <a:endParaRPr sz="120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>
                <a:off x="1628775" y="0"/>
                <a:ext cx="14289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"/>
              <p:cNvSpPr txBox="1"/>
              <p:nvPr/>
            </p:nvSpPr>
            <p:spPr>
              <a:xfrm>
                <a:off x="1743075" y="95250"/>
                <a:ext cx="1200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02</a:t>
                </a:r>
                <a:endParaRPr sz="1100" b="1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Face landmarks</a:t>
                </a:r>
                <a:endParaRPr sz="120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3257550" y="0"/>
                <a:ext cx="14289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8FAFC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"/>
              <p:cNvSpPr txBox="1"/>
              <p:nvPr/>
            </p:nvSpPr>
            <p:spPr>
              <a:xfrm>
                <a:off x="3371850" y="95250"/>
                <a:ext cx="12003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03</a:t>
                </a:r>
                <a:endParaRPr sz="1100" b="1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EAR + MAR + Head pose</a:t>
                </a:r>
                <a:endParaRPr sz="105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0" y="933450"/>
                <a:ext cx="1428900" cy="904800"/>
              </a:xfrm>
              <a:prstGeom prst="roundRect">
                <a:avLst>
                  <a:gd name="adj" fmla="val 10526"/>
                </a:avLst>
              </a:prstGeom>
              <a:solidFill>
                <a:srgbClr val="EFF6FF"/>
              </a:solidFill>
              <a:ln w="19050" cap="flat" cmpd="sng">
                <a:solidFill>
                  <a:srgbClr val="2563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0" y="1647825"/>
                <a:ext cx="1428900" cy="190500"/>
              </a:xfrm>
              <a:prstGeom prst="roundRect">
                <a:avLst>
                  <a:gd name="adj" fmla="val 16667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"/>
              <p:cNvSpPr txBox="1"/>
              <p:nvPr/>
            </p:nvSpPr>
            <p:spPr>
              <a:xfrm>
                <a:off x="95250" y="1009650"/>
                <a:ext cx="1238400" cy="51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rgbClr val="1D4ED8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04 • NEW</a:t>
                </a:r>
                <a:endParaRPr sz="1000" b="0" i="0" u="none" strike="noStrike" cap="none">
                  <a:solidFill>
                    <a:srgbClr val="1D4ED8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1E3A8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Condition detection</a:t>
                </a:r>
                <a:endParaRPr sz="1100" b="0" i="0" u="none" strike="noStrike" cap="none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1628775" y="933450"/>
                <a:ext cx="1428900" cy="904800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"/>
              <p:cNvSpPr txBox="1"/>
              <p:nvPr/>
            </p:nvSpPr>
            <p:spPr>
              <a:xfrm>
                <a:off x="1743075" y="1009650"/>
                <a:ext cx="1200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05</a:t>
                </a:r>
                <a:endParaRPr sz="1100" b="1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lang="en-US" sz="115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Adaptive weights</a:t>
                </a:r>
                <a:endParaRPr sz="115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3257550" y="933450"/>
                <a:ext cx="1428900" cy="904800"/>
              </a:xfrm>
              <a:prstGeom prst="roundRect">
                <a:avLst>
                  <a:gd name="adj" fmla="val 10526"/>
                </a:avLst>
              </a:prstGeom>
              <a:solidFill>
                <a:srgbClr val="F8FAFC"/>
              </a:solidFill>
              <a:ln w="9525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3"/>
              <p:cNvSpPr txBox="1"/>
              <p:nvPr/>
            </p:nvSpPr>
            <p:spPr>
              <a:xfrm>
                <a:off x="3371850" y="1009650"/>
                <a:ext cx="1200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3B82F6"/>
                    </a:solidFill>
                    <a:latin typeface="Inter"/>
                    <a:ea typeface="Inter"/>
                    <a:cs typeface="Inter"/>
                    <a:sym typeface="Inter"/>
                  </a:rPr>
                  <a:t>06</a:t>
                </a:r>
                <a:endParaRPr sz="1100" b="1" i="0" u="none" strike="noStrike" cap="none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150"/>
                  <a:buFont typeface="Arial"/>
                  <a:buNone/>
                </a:pPr>
                <a:r>
                  <a:rPr lang="en-US" sz="1150" b="1" i="0" u="none" strike="noStrike" cap="none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Signal fusion</a:t>
                </a:r>
                <a:endParaRPr sz="1150" b="1" i="0" u="none" strike="noStrike" cap="non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0" y="1962150"/>
                <a:ext cx="4686300" cy="571500"/>
              </a:xfrm>
              <a:prstGeom prst="roundRect">
                <a:avLst>
                  <a:gd name="adj" fmla="val 16666"/>
                </a:avLst>
              </a:prstGeom>
              <a:solidFill>
                <a:srgbClr val="F0F9FF"/>
              </a:solidFill>
              <a:ln w="14300" cap="flat" cmpd="sng">
                <a:solidFill>
                  <a:srgbClr val="0EA5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"/>
              <p:cNvSpPr txBox="1"/>
              <p:nvPr/>
            </p:nvSpPr>
            <p:spPr>
              <a:xfrm>
                <a:off x="152400" y="2019300"/>
                <a:ext cx="43815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07 • FINAL OUTPUT</a:t>
                </a:r>
                <a:endParaRPr sz="1050" b="1" i="0" u="none" strike="noStrike" cap="none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350"/>
                  <a:buFont typeface="Arial"/>
                  <a:buNone/>
                </a:pPr>
                <a:r>
                  <a:rPr lang="en-US" sz="135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Drowsiness decision</a:t>
                </a:r>
                <a:endParaRPr sz="135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137" name="Google Shape;137;p3"/>
            <p:cNvGrpSpPr/>
            <p:nvPr/>
          </p:nvGrpSpPr>
          <p:grpSpPr>
            <a:xfrm>
              <a:off x="228600" y="3619500"/>
              <a:ext cx="4686300" cy="1000200"/>
              <a:chOff x="0" y="0"/>
              <a:chExt cx="4686300" cy="1000200"/>
            </a:xfrm>
          </p:grpSpPr>
          <p:sp>
            <p:nvSpPr>
              <p:cNvPr id="138" name="Google Shape;138;p3"/>
              <p:cNvSpPr/>
              <p:nvPr/>
            </p:nvSpPr>
            <p:spPr>
              <a:xfrm>
                <a:off x="0" y="0"/>
                <a:ext cx="4686300" cy="1000200"/>
              </a:xfrm>
              <a:prstGeom prst="roundRect">
                <a:avLst>
                  <a:gd name="adj" fmla="val 11428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0" y="0"/>
                <a:ext cx="57300" cy="100020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"/>
              <p:cNvSpPr txBox="1"/>
              <p:nvPr/>
            </p:nvSpPr>
            <p:spPr>
              <a:xfrm>
                <a:off x="209550" y="142875"/>
                <a:ext cx="4286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1" i="0" u="none" strike="noStrike" cap="none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Proposed innovation:</a:t>
                </a:r>
                <a:endParaRPr sz="1200" b="1" i="0" u="none" strike="noStrike" cap="non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Condition-dependent contribution before the drowsiness decision.</a:t>
                </a:r>
                <a:endParaRPr sz="1100" b="0" i="0" u="none" strike="noStrike" cap="none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10"/>
          <p:cNvGrpSpPr/>
          <p:nvPr/>
        </p:nvGrpSpPr>
        <p:grpSpPr>
          <a:xfrm>
            <a:off x="762000" y="381000"/>
            <a:ext cx="10668000" cy="800250"/>
            <a:chOff x="0" y="0"/>
            <a:chExt cx="10668000" cy="800250"/>
          </a:xfrm>
        </p:grpSpPr>
        <p:sp>
          <p:nvSpPr>
            <p:cNvPr id="357" name="Google Shape;357;p10"/>
            <p:cNvSpPr/>
            <p:nvPr/>
          </p:nvSpPr>
          <p:spPr>
            <a:xfrm>
              <a:off x="0" y="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0"/>
            <p:cNvSpPr txBox="1"/>
            <p:nvPr/>
          </p:nvSpPr>
          <p:spPr>
            <a:xfrm>
              <a:off x="0" y="0"/>
              <a:ext cx="1524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PROGRESS SINCE CE-1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9" name="Google Shape;359;p10"/>
            <p:cNvSpPr txBox="1"/>
            <p:nvPr/>
          </p:nvSpPr>
          <p:spPr>
            <a:xfrm>
              <a:off x="0" y="32385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Phases 1 and 2 are built and running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60" name="Google Shape;360;p10"/>
          <p:cNvGrpSpPr/>
          <p:nvPr/>
        </p:nvGrpSpPr>
        <p:grpSpPr>
          <a:xfrm>
            <a:off x="762000" y="1285875"/>
            <a:ext cx="1981200" cy="2952900"/>
            <a:chOff x="0" y="0"/>
            <a:chExt cx="1981200" cy="2952900"/>
          </a:xfrm>
        </p:grpSpPr>
        <p:sp>
          <p:nvSpPr>
            <p:cNvPr id="361" name="Google Shape;361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E3A8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01 · DONE</a:t>
              </a:r>
              <a:endParaRPr sz="900" b="1" i="0" u="none" strike="noStrike" cap="non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Feature Extraction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MediaPipe landmarks; EAR, MAR and head pose every frame.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4" name="Google Shape;364;p10"/>
          <p:cNvGrpSpPr/>
          <p:nvPr/>
        </p:nvGrpSpPr>
        <p:grpSpPr>
          <a:xfrm>
            <a:off x="2933700" y="1285875"/>
            <a:ext cx="1981200" cy="2952900"/>
            <a:chOff x="0" y="0"/>
            <a:chExt cx="1981200" cy="2952900"/>
          </a:xfrm>
        </p:grpSpPr>
        <p:sp>
          <p:nvSpPr>
            <p:cNvPr id="365" name="Google Shape;365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02 · DONE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Baseline &amp; Alert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Calibration, static fusion, 3-level alerts, log, dashboard.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10"/>
          <p:cNvGrpSpPr/>
          <p:nvPr/>
        </p:nvGrpSpPr>
        <p:grpSpPr>
          <a:xfrm>
            <a:off x="5105400" y="1285875"/>
            <a:ext cx="1981200" cy="2952900"/>
            <a:chOff x="0" y="0"/>
            <a:chExt cx="1981200" cy="2952900"/>
          </a:xfrm>
        </p:grpSpPr>
        <p:sp>
          <p:nvSpPr>
            <p:cNvPr id="369" name="Google Shape;369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9050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03 · NEXT</a:t>
              </a:r>
              <a:endParaRPr sz="9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Adaptive Fusion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Low-light &amp; occlusion cues, adaptive weights. CE-2, Nov 1.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2" name="Google Shape;372;p10"/>
          <p:cNvGrpSpPr/>
          <p:nvPr/>
        </p:nvGrpSpPr>
        <p:grpSpPr>
          <a:xfrm>
            <a:off x="7277100" y="1285875"/>
            <a:ext cx="1981200" cy="2952900"/>
            <a:chOff x="0" y="0"/>
            <a:chExt cx="1981200" cy="2952900"/>
          </a:xfrm>
        </p:grpSpPr>
        <p:sp>
          <p:nvSpPr>
            <p:cNvPr id="373" name="Google Shape;373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04 · PLANNED</a:t>
              </a:r>
              <a:endParaRPr sz="9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Testing &amp; Eval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Adaptive vs. static fusion on datasets &amp; own clips.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6" name="Google Shape;376;p10"/>
          <p:cNvGrpSpPr/>
          <p:nvPr/>
        </p:nvGrpSpPr>
        <p:grpSpPr>
          <a:xfrm>
            <a:off x="9448800" y="1285875"/>
            <a:ext cx="1981200" cy="2952900"/>
            <a:chOff x="0" y="0"/>
            <a:chExt cx="1981200" cy="2952900"/>
          </a:xfrm>
        </p:grpSpPr>
        <p:sp>
          <p:nvSpPr>
            <p:cNvPr id="377" name="Google Shape;377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284C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05 · PLANNED</a:t>
              </a:r>
              <a:endParaRPr sz="9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Dashboard &amp; Docs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Dashboard polish, documentation and final report (Endsem).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0" name="Google Shape;380;p10"/>
          <p:cNvGrpSpPr/>
          <p:nvPr/>
        </p:nvGrpSpPr>
        <p:grpSpPr>
          <a:xfrm>
            <a:off x="762000" y="4476750"/>
            <a:ext cx="10668000" cy="1666800"/>
            <a:chOff x="0" y="0"/>
            <a:chExt cx="10668000" cy="1666800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10668000" cy="1666800"/>
            </a:xfrm>
            <a:prstGeom prst="roundRect">
              <a:avLst>
                <a:gd name="adj" fmla="val 9142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0" y="0"/>
              <a:ext cx="76200" cy="16668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0"/>
            <p:cNvSpPr txBox="1"/>
            <p:nvPr/>
          </p:nvSpPr>
          <p:spPr>
            <a:xfrm>
              <a:off x="304800" y="228600"/>
              <a:ext cx="10058400" cy="12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MID-SEM STATUS</a:t>
              </a:r>
              <a:endParaRPr sz="95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working real-time system: webcam → landmarks → signals → calibrated indicators → static fusion → alerts.</a:t>
              </a:r>
              <a:endParaRPr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Fusion sits behind one interface, so Phase 3 adaptive fusion can be compared with this baseline on identical inputs.</a:t>
              </a:r>
              <a:endParaRPr sz="1100" b="0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4"/>
          <p:cNvGrpSpPr/>
          <p:nvPr/>
        </p:nvGrpSpPr>
        <p:grpSpPr>
          <a:xfrm>
            <a:off x="762000" y="400050"/>
            <a:ext cx="10668000" cy="1162050"/>
            <a:chOff x="0" y="0"/>
            <a:chExt cx="10668000" cy="1162050"/>
          </a:xfrm>
        </p:grpSpPr>
        <p:grpSp>
          <p:nvGrpSpPr>
            <p:cNvPr id="148" name="Google Shape;148;p4"/>
            <p:cNvGrpSpPr/>
            <p:nvPr/>
          </p:nvGrpSpPr>
          <p:grpSpPr>
            <a:xfrm>
              <a:off x="0" y="0"/>
              <a:ext cx="1714500" cy="304800"/>
              <a:chOff x="0" y="0"/>
              <a:chExt cx="1714500" cy="3048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0" y="0"/>
                <a:ext cx="17145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4"/>
              <p:cNvSpPr txBox="1"/>
              <p:nvPr/>
            </p:nvSpPr>
            <p:spPr>
              <a:xfrm>
                <a:off x="0" y="0"/>
                <a:ext cx="1714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D4ED8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SYSTEM ARCHITECTURE</a:t>
                </a:r>
                <a:endParaRPr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151" name="Google Shape;151;p4"/>
            <p:cNvSpPr txBox="1"/>
            <p:nvPr/>
          </p:nvSpPr>
          <p:spPr>
            <a:xfrm>
              <a:off x="0" y="40005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Architecture: what is built and what is next</a:t>
              </a:r>
              <a:endParaRPr sz="26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Stages 01–03 and 06 are implemented; static fusion currently fills stage 05 behind the same interface.</a:t>
              </a:r>
              <a:endParaRPr sz="13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>
            <a:off x="762000" y="1714500"/>
            <a:ext cx="10667925" cy="2952900"/>
            <a:chOff x="0" y="0"/>
            <a:chExt cx="10667925" cy="2952900"/>
          </a:xfrm>
        </p:grpSpPr>
        <p:grpSp>
          <p:nvGrpSpPr>
            <p:cNvPr id="153" name="Google Shape;153;p4"/>
            <p:cNvGrpSpPr/>
            <p:nvPr/>
          </p:nvGrpSpPr>
          <p:grpSpPr>
            <a:xfrm>
              <a:off x="0" y="0"/>
              <a:ext cx="1657500" cy="2952900"/>
              <a:chOff x="0" y="0"/>
              <a:chExt cx="1657500" cy="29529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0" y="0"/>
                <a:ext cx="1657500" cy="2952900"/>
              </a:xfrm>
              <a:prstGeom prst="roundRect">
                <a:avLst>
                  <a:gd name="adj" fmla="val 6896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0" y="0"/>
                <a:ext cx="16575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4"/>
              <p:cNvSpPr txBox="1"/>
              <p:nvPr/>
            </p:nvSpPr>
            <p:spPr>
              <a:xfrm>
                <a:off x="152400" y="190500"/>
                <a:ext cx="13527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 / BUILT</a:t>
                </a:r>
                <a:endParaRPr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Live webcam</a:t>
                </a:r>
                <a:endParaRPr sz="15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Camera or video file, with timestamps.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1800225" y="0"/>
              <a:ext cx="1657500" cy="2952900"/>
              <a:chOff x="0" y="0"/>
              <a:chExt cx="1657500" cy="29529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0" y="0"/>
                <a:ext cx="1657500" cy="2952900"/>
              </a:xfrm>
              <a:prstGeom prst="roundRect">
                <a:avLst>
                  <a:gd name="adj" fmla="val 6896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0" y="0"/>
                <a:ext cx="16575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4"/>
              <p:cNvSpPr txBox="1"/>
              <p:nvPr/>
            </p:nvSpPr>
            <p:spPr>
              <a:xfrm>
                <a:off x="152400" y="190500"/>
                <a:ext cx="13527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 / BUILT</a:t>
                </a:r>
                <a:endParaRPr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MediaPipe</a:t>
                </a:r>
                <a:endParaRPr sz="15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FaceLandmarker: 478 landmarks.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3600450" y="0"/>
              <a:ext cx="1657500" cy="2952900"/>
              <a:chOff x="0" y="0"/>
              <a:chExt cx="1657500" cy="29529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0" y="0"/>
                <a:ext cx="1657500" cy="2952900"/>
              </a:xfrm>
              <a:prstGeom prst="roundRect">
                <a:avLst>
                  <a:gd name="adj" fmla="val 6896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0" y="0"/>
                <a:ext cx="16575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0EA5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4"/>
              <p:cNvSpPr txBox="1"/>
              <p:nvPr/>
            </p:nvSpPr>
            <p:spPr>
              <a:xfrm>
                <a:off x="152400" y="190500"/>
                <a:ext cx="13527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0EA5E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 / BUILT</a:t>
                </a:r>
                <a:endParaRPr sz="10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Signals</a:t>
                </a:r>
                <a:endParaRPr sz="15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marR="0" lvl="0" indent="-29845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Inter"/>
                  <a:buChar char="●"/>
                </a:pPr>
                <a:r>
                  <a:rPr lang="en-US" sz="1100" b="0" i="0" u="none" strike="noStrike" cap="non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EAR</a:t>
                </a:r>
                <a:endParaRPr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marR="0" lvl="0" indent="-29845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Inter"/>
                  <a:buChar char="●"/>
                </a:pPr>
                <a:r>
                  <a:rPr lang="en-US" sz="1100" b="0" i="0" u="none" strike="noStrike" cap="non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MAR</a:t>
                </a:r>
                <a:endParaRPr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marR="0" lvl="0" indent="-29845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Inter"/>
                  <a:buChar char="●"/>
                </a:pPr>
                <a:r>
                  <a:rPr lang="en-US" sz="1100" b="0" i="0" u="none" strike="noStrike" cap="non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Head pose</a:t>
                </a:r>
                <a:endParaRPr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5400675" y="0"/>
              <a:ext cx="1657500" cy="2952900"/>
              <a:chOff x="0" y="0"/>
              <a:chExt cx="1657500" cy="29529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0" y="0"/>
                <a:ext cx="1657500" cy="2952900"/>
              </a:xfrm>
              <a:prstGeom prst="roundRect">
                <a:avLst>
                  <a:gd name="adj" fmla="val 6896"/>
                </a:avLst>
              </a:prstGeom>
              <a:solidFill>
                <a:srgbClr val="EFF6FF"/>
              </a:solidFill>
              <a:ln w="19050" cap="flat" cmpd="sng">
                <a:solidFill>
                  <a:srgbClr val="2563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0" y="0"/>
                <a:ext cx="16575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"/>
              <p:cNvSpPr txBox="1"/>
              <p:nvPr/>
            </p:nvSpPr>
            <p:spPr>
              <a:xfrm>
                <a:off x="152400" y="190500"/>
                <a:ext cx="13527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rgbClr val="1D4ED8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04 / PHASE 3</a:t>
                </a:r>
                <a:endParaRPr sz="1000" b="0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0" i="0" u="none" strike="noStrike" cap="none">
                    <a:solidFill>
                      <a:srgbClr val="1E3A8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Conditions</a:t>
                </a:r>
                <a:endParaRPr sz="1500" b="0" i="0" u="none" strike="noStrike" cap="none">
                  <a:solidFill>
                    <a:srgbClr val="1E3A8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1E40AF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Low light &amp; occlusion detection.</a:t>
                </a:r>
                <a:endParaRPr sz="1100" b="0" i="0" u="none" strike="noStrike" cap="none">
                  <a:solidFill>
                    <a:srgbClr val="1E40AF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169" name="Google Shape;169;p4"/>
            <p:cNvGrpSpPr/>
            <p:nvPr/>
          </p:nvGrpSpPr>
          <p:grpSpPr>
            <a:xfrm>
              <a:off x="7200900" y="0"/>
              <a:ext cx="1657500" cy="2952900"/>
              <a:chOff x="0" y="0"/>
              <a:chExt cx="1657500" cy="2952900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1657500" cy="2952900"/>
              </a:xfrm>
              <a:prstGeom prst="roundRect">
                <a:avLst>
                  <a:gd name="adj" fmla="val 6896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0" y="0"/>
                <a:ext cx="16575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 txBox="1"/>
              <p:nvPr/>
            </p:nvSpPr>
            <p:spPr>
              <a:xfrm>
                <a:off x="152400" y="190500"/>
                <a:ext cx="13527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05 / PARTLY BUILT</a:t>
                </a:r>
                <a:endParaRPr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Fusion</a:t>
                </a:r>
                <a:endParaRPr sz="15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Static weights now; adaptive in Phase 3.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3" name="Google Shape;173;p4"/>
            <p:cNvGrpSpPr/>
            <p:nvPr/>
          </p:nvGrpSpPr>
          <p:grpSpPr>
            <a:xfrm>
              <a:off x="9001125" y="0"/>
              <a:ext cx="1666800" cy="2952900"/>
              <a:chOff x="0" y="0"/>
              <a:chExt cx="1666800" cy="2952900"/>
            </a:xfrm>
          </p:grpSpPr>
          <p:sp>
            <p:nvSpPr>
              <p:cNvPr id="174" name="Google Shape;174;p4"/>
              <p:cNvSpPr/>
              <p:nvPr/>
            </p:nvSpPr>
            <p:spPr>
              <a:xfrm>
                <a:off x="0" y="0"/>
                <a:ext cx="1666800" cy="2952900"/>
              </a:xfrm>
              <a:prstGeom prst="roundRect">
                <a:avLst>
                  <a:gd name="adj" fmla="val 6857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4"/>
              <p:cNvSpPr/>
              <p:nvPr/>
            </p:nvSpPr>
            <p:spPr>
              <a:xfrm>
                <a:off x="0" y="0"/>
                <a:ext cx="1666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4"/>
              <p:cNvSpPr txBox="1"/>
              <p:nvPr/>
            </p:nvSpPr>
            <p:spPr>
              <a:xfrm>
                <a:off x="152400" y="190500"/>
                <a:ext cx="13620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05966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06 / BUILT</a:t>
                </a:r>
                <a:endParaRPr sz="1000" b="1" i="0" u="none" strike="noStrike" cap="none">
                  <a:solidFill>
                    <a:srgbClr val="05966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Output</a:t>
                </a:r>
                <a:endParaRPr sz="15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marR="0" lvl="0" indent="-29845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Inter"/>
                  <a:buChar char="●"/>
                </a:pPr>
                <a:r>
                  <a:rPr lang="en-US" sz="1100" b="0" i="0" u="none" strike="noStrike" cap="non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Alerts</a:t>
                </a:r>
                <a:endParaRPr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marR="0" lvl="0" indent="-29845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Inter"/>
                  <a:buChar char="●"/>
                </a:pPr>
                <a:r>
                  <a:rPr lang="en-US" sz="1100" b="0" i="0" u="none" strike="noStrike" cap="non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Dashboard</a:t>
                </a:r>
                <a:endParaRPr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marR="0" lvl="0" indent="-29845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334155"/>
                  </a:buClr>
                  <a:buSzPts val="1100"/>
                  <a:buFont typeface="Inter"/>
                  <a:buChar char="●"/>
                </a:pPr>
                <a:r>
                  <a:rPr lang="en-US" sz="1100" b="0" i="0" u="none" strike="noStrike" cap="none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Traceable log</a:t>
                </a:r>
                <a:endParaRPr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7" name="Google Shape;177;p4"/>
          <p:cNvGrpSpPr/>
          <p:nvPr/>
        </p:nvGrpSpPr>
        <p:grpSpPr>
          <a:xfrm>
            <a:off x="762000" y="4953000"/>
            <a:ext cx="10668000" cy="1143000"/>
            <a:chOff x="0" y="0"/>
            <a:chExt cx="10668000" cy="1143000"/>
          </a:xfrm>
        </p:grpSpPr>
        <p:sp>
          <p:nvSpPr>
            <p:cNvPr id="178" name="Google Shape;178;p4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0" y="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 txBox="1"/>
            <p:nvPr/>
          </p:nvSpPr>
          <p:spPr>
            <a:xfrm>
              <a:off x="304800" y="190500"/>
              <a:ext cx="1005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Architecture Principle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The condition module does not replace facial analysis; it informs how much each facial signal should influence the fused score.</a:t>
              </a:r>
              <a:endParaRPr sz="16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5"/>
          <p:cNvGrpSpPr/>
          <p:nvPr/>
        </p:nvGrpSpPr>
        <p:grpSpPr>
          <a:xfrm>
            <a:off x="762000" y="400050"/>
            <a:ext cx="10668000" cy="1257450"/>
            <a:chOff x="0" y="0"/>
            <a:chExt cx="10668000" cy="1257450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20001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0" y="0"/>
              <a:ext cx="2000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SIGNALS · BUILT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0" y="400050"/>
              <a:ext cx="1066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5"/>
                <a:buFont typeface="Arial"/>
                <a:buNone/>
              </a:pPr>
              <a:r>
                <a:rPr lang="en-US" sz="2405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Three complementary drowsiness signals</a:t>
              </a:r>
              <a:endParaRPr sz="2405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3"/>
                <a:buFont typeface="Arial"/>
                <a:buNone/>
              </a:pPr>
              <a:r>
                <a:rPr lang="en-US" sz="1203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Computed on every frame from MediaPipe’s 478-point face mesh, then turned into time-based indicators.</a:t>
              </a:r>
              <a:endParaRPr sz="1203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762000" y="1857375"/>
            <a:ext cx="10668000" cy="2952900"/>
            <a:chOff x="0" y="0"/>
            <a:chExt cx="10668000" cy="2952900"/>
          </a:xfrm>
        </p:grpSpPr>
        <p:grpSp>
          <p:nvGrpSpPr>
            <p:cNvPr id="192" name="Google Shape;192;p5"/>
            <p:cNvGrpSpPr/>
            <p:nvPr/>
          </p:nvGrpSpPr>
          <p:grpSpPr>
            <a:xfrm>
              <a:off x="0" y="0"/>
              <a:ext cx="3352800" cy="2952900"/>
              <a:chOff x="0" y="0"/>
              <a:chExt cx="3352800" cy="2952900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0" y="0"/>
                <a:ext cx="3352800" cy="2952900"/>
              </a:xfrm>
              <a:prstGeom prst="roundRect">
                <a:avLst>
                  <a:gd name="adj" fmla="val 516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5"/>
              <p:cNvSpPr txBox="1"/>
              <p:nvPr/>
            </p:nvSpPr>
            <p:spPr>
              <a:xfrm>
                <a:off x="228600" y="228600"/>
                <a:ext cx="28956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 / SIGNAL</a:t>
                </a:r>
                <a:endParaRPr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EAR</a:t>
                </a:r>
                <a:endParaRPr sz="22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Eye Aspect Ratio</a:t>
                </a:r>
                <a:endParaRPr sz="1100" b="0" i="0" u="none" strike="noStrike" cap="none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Six landmarks per eye, averaged over both eyes. Closed = EAR below 75% of the driver’s open-eye value.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6" name="Google Shape;196;p5"/>
            <p:cNvGrpSpPr/>
            <p:nvPr/>
          </p:nvGrpSpPr>
          <p:grpSpPr>
            <a:xfrm>
              <a:off x="3657600" y="0"/>
              <a:ext cx="3352800" cy="2952900"/>
              <a:chOff x="0" y="0"/>
              <a:chExt cx="3352800" cy="2952900"/>
            </a:xfrm>
          </p:grpSpPr>
          <p:sp>
            <p:nvSpPr>
              <p:cNvPr id="197" name="Google Shape;197;p5"/>
              <p:cNvSpPr/>
              <p:nvPr/>
            </p:nvSpPr>
            <p:spPr>
              <a:xfrm>
                <a:off x="0" y="0"/>
                <a:ext cx="3352800" cy="2952900"/>
              </a:xfrm>
              <a:prstGeom prst="roundRect">
                <a:avLst>
                  <a:gd name="adj" fmla="val 516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0EA5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5"/>
              <p:cNvSpPr txBox="1"/>
              <p:nvPr/>
            </p:nvSpPr>
            <p:spPr>
              <a:xfrm>
                <a:off x="228600" y="228600"/>
                <a:ext cx="28956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0EA5E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 / SIGNAL</a:t>
                </a:r>
                <a:endParaRPr sz="10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MAR</a:t>
                </a:r>
                <a:endParaRPr sz="22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0EA5E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Mouth Aspect Ratio</a:t>
                </a:r>
                <a:endParaRPr sz="1100" b="0" i="0" u="none" strike="noStrike" cap="none">
                  <a:solidFill>
                    <a:srgbClr val="0EA5E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Inner-lip opening ÷ mouth width. A yawn is MAR above 0.5 held for at least 1.5 s.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0" name="Google Shape;200;p5"/>
            <p:cNvGrpSpPr/>
            <p:nvPr/>
          </p:nvGrpSpPr>
          <p:grpSpPr>
            <a:xfrm>
              <a:off x="7315200" y="0"/>
              <a:ext cx="3352800" cy="2952900"/>
              <a:chOff x="0" y="0"/>
              <a:chExt cx="3352800" cy="295290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0" y="0"/>
                <a:ext cx="3352800" cy="2952900"/>
              </a:xfrm>
              <a:prstGeom prst="roundRect">
                <a:avLst>
                  <a:gd name="adj" fmla="val 516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 txBox="1"/>
              <p:nvPr/>
            </p:nvSpPr>
            <p:spPr>
              <a:xfrm>
                <a:off x="228600" y="228600"/>
                <a:ext cx="28956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0B98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 / SIGNAL</a:t>
                </a:r>
                <a:endParaRPr sz="1000" b="1" i="0" u="none" strike="noStrike" cap="none">
                  <a:solidFill>
                    <a:srgbClr val="10B98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Head pose</a:t>
                </a:r>
                <a:endParaRPr sz="22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OpenCV solvePnP</a:t>
                </a:r>
                <a:endParaRPr sz="1100" b="0" i="0" u="none" strike="noStrike" cap="none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Pitch, yaw and roll from a generic 3D face model, relative to the calibrated neutral pose.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4" name="Google Shape;204;p5"/>
          <p:cNvGrpSpPr/>
          <p:nvPr/>
        </p:nvGrpSpPr>
        <p:grpSpPr>
          <a:xfrm>
            <a:off x="762000" y="5095875"/>
            <a:ext cx="10668000" cy="1143000"/>
            <a:chOff x="0" y="0"/>
            <a:chExt cx="10668000" cy="1143000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0" y="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"/>
            <p:cNvSpPr txBox="1"/>
            <p:nvPr/>
          </p:nvSpPr>
          <p:spPr>
            <a:xfrm>
              <a:off x="304800" y="190500"/>
              <a:ext cx="1005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Core Principle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No single facial measurement is reliable in every situation, so the system combines multiple complementary signals.</a:t>
              </a:r>
              <a:endParaRPr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>
            <a:off x="762000" y="381000"/>
            <a:ext cx="10668000" cy="1238400"/>
            <a:chOff x="0" y="0"/>
            <a:chExt cx="10668000" cy="1238400"/>
          </a:xfrm>
        </p:grpSpPr>
        <p:sp>
          <p:nvSpPr>
            <p:cNvPr id="215" name="Google Shape;215;p6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CALIBRATION · BUILT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0" y="381000"/>
              <a:ext cx="1066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Per-driver calibration and time-based indicators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Thresholds adapt to each driver, and indicators are measured in seconds, not frames, so they do not depend on FPS.</a:t>
              </a:r>
              <a:endPara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762000" y="1666875"/>
            <a:ext cx="5181600" cy="3143400"/>
            <a:chOff x="0" y="0"/>
            <a:chExt cx="5181600" cy="3143400"/>
          </a:xfrm>
        </p:grpSpPr>
        <p:sp>
          <p:nvSpPr>
            <p:cNvPr id="219" name="Google Shape;219;p6"/>
            <p:cNvSpPr/>
            <p:nvPr/>
          </p:nvSpPr>
          <p:spPr>
            <a:xfrm>
              <a:off x="0" y="0"/>
              <a:ext cx="5181600" cy="31434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0" y="0"/>
              <a:ext cx="51816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228600" y="190500"/>
              <a:ext cx="47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IMPLEMENTED 01</a:t>
              </a:r>
              <a:endParaRPr sz="10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Per-driver calibration</a:t>
              </a:r>
              <a:endParaRPr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22" name="Google Shape;222;p6"/>
            <p:cNvGrpSpPr/>
            <p:nvPr/>
          </p:nvGrpSpPr>
          <p:grpSpPr>
            <a:xfrm>
              <a:off x="228600" y="857250"/>
              <a:ext cx="1066800" cy="1047900"/>
              <a:chOff x="0" y="0"/>
              <a:chExt cx="1066800" cy="10479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1066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95250" y="95250"/>
                <a:ext cx="876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01 STEP</a:t>
                </a:r>
                <a:endParaRPr sz="900" b="1" i="0" u="none" strike="noStrike" cap="non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Look ahead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5 s, eyes open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>
              <a:off x="1409700" y="857250"/>
              <a:ext cx="1066800" cy="1047900"/>
              <a:chOff x="0" y="0"/>
              <a:chExt cx="1066800" cy="1047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1066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95250" y="95250"/>
                <a:ext cx="876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02 STEP</a:t>
                </a:r>
                <a:endParaRPr sz="900" b="1" i="0" u="none" strike="noStrike" cap="non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Baseline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Median EAR &amp; pose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>
              <a:off x="2590800" y="857250"/>
              <a:ext cx="1066800" cy="1047900"/>
              <a:chOff x="0" y="0"/>
              <a:chExt cx="1066800" cy="1047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1066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95250" y="95250"/>
                <a:ext cx="876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03 STEP</a:t>
                </a:r>
                <a:endParaRPr sz="900" b="1" i="0" u="none" strike="noStrike" cap="non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Threshold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75% of open EAR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3771900" y="857250"/>
              <a:ext cx="1181100" cy="1047900"/>
              <a:chOff x="0" y="0"/>
              <a:chExt cx="1181100" cy="1047900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1811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95250" y="95250"/>
                <a:ext cx="9906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rPr>
                  <a:t>04 CHECK</a:t>
                </a:r>
                <a:endParaRPr sz="900" b="1" i="0" u="none" strike="noStrike" cap="none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Validate</a:t>
                </a:r>
                <a:endParaRPr sz="1100" b="1" i="0" u="none" strike="noStrike" cap="none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Reject &amp; retry</a:t>
                </a:r>
                <a:endParaRPr sz="950" b="0" i="0" u="none" strike="noStrike" cap="none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4" name="Google Shape;234;p6"/>
            <p:cNvGrpSpPr/>
            <p:nvPr/>
          </p:nvGrpSpPr>
          <p:grpSpPr>
            <a:xfrm>
              <a:off x="228600" y="2095500"/>
              <a:ext cx="4724400" cy="809700"/>
              <a:chOff x="0" y="0"/>
              <a:chExt cx="4724400" cy="809700"/>
            </a:xfrm>
          </p:grpSpPr>
          <p:sp>
            <p:nvSpPr>
              <p:cNvPr id="235" name="Google Shape;235;p6"/>
              <p:cNvSpPr/>
              <p:nvPr/>
            </p:nvSpPr>
            <p:spPr>
              <a:xfrm>
                <a:off x="0" y="0"/>
                <a:ext cx="47244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 txBox="1"/>
              <p:nvPr/>
            </p:nvSpPr>
            <p:spPr>
              <a:xfrm>
                <a:off x="152400" y="114300"/>
                <a:ext cx="44196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rPr>
                  <a:t>WHY IT MATTERS</a:t>
                </a:r>
                <a:endParaRPr sz="1000" b="1" i="0" u="none" strike="noStrike" cap="none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1E3A8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Adapts to eye shape, glasses and camera position; baselines with closed eyes or a lowered head are rejected.</a:t>
                </a:r>
                <a:endParaRPr sz="1100" b="0" i="0" u="none" strike="noStrike" cap="none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37" name="Google Shape;237;p6"/>
          <p:cNvGrpSpPr/>
          <p:nvPr/>
        </p:nvGrpSpPr>
        <p:grpSpPr>
          <a:xfrm>
            <a:off x="6248400" y="1666875"/>
            <a:ext cx="5181600" cy="3143400"/>
            <a:chOff x="0" y="0"/>
            <a:chExt cx="5181600" cy="3143400"/>
          </a:xfrm>
        </p:grpSpPr>
        <p:sp>
          <p:nvSpPr>
            <p:cNvPr id="238" name="Google Shape;238;p6"/>
            <p:cNvSpPr/>
            <p:nvPr/>
          </p:nvSpPr>
          <p:spPr>
            <a:xfrm>
              <a:off x="0" y="0"/>
              <a:ext cx="5181600" cy="31434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0"/>
              <a:ext cx="51816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228600" y="190500"/>
              <a:ext cx="47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IMPLEMENTED 02</a:t>
              </a:r>
              <a:endParaRPr sz="10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Time-based indicators</a:t>
              </a:r>
              <a:endParaRPr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41" name="Google Shape;241;p6"/>
            <p:cNvGrpSpPr/>
            <p:nvPr/>
          </p:nvGrpSpPr>
          <p:grpSpPr>
            <a:xfrm>
              <a:off x="228600" y="857250"/>
              <a:ext cx="1447800" cy="1047900"/>
              <a:chOff x="0" y="0"/>
              <a:chExt cx="1447800" cy="1047900"/>
            </a:xfrm>
          </p:grpSpPr>
          <p:sp>
            <p:nvSpPr>
              <p:cNvPr id="242" name="Google Shape;242;p6"/>
              <p:cNvSpPr/>
              <p:nvPr/>
            </p:nvSpPr>
            <p:spPr>
              <a:xfrm>
                <a:off x="0" y="0"/>
                <a:ext cx="1447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6"/>
              <p:cNvSpPr txBox="1"/>
              <p:nvPr/>
            </p:nvSpPr>
            <p:spPr>
              <a:xfrm>
                <a:off x="114300" y="95250"/>
                <a:ext cx="1219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01 EYES</a:t>
                </a:r>
                <a:endParaRPr sz="900" b="1" i="0" u="none" strike="noStrike" cap="none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Closure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Ratio (20 s) + microsleep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4" name="Google Shape;244;p6"/>
            <p:cNvGrpSpPr/>
            <p:nvPr/>
          </p:nvGrpSpPr>
          <p:grpSpPr>
            <a:xfrm>
              <a:off x="1828800" y="857250"/>
              <a:ext cx="1447800" cy="1047900"/>
              <a:chOff x="0" y="0"/>
              <a:chExt cx="1447800" cy="1047900"/>
            </a:xfrm>
          </p:grpSpPr>
          <p:sp>
            <p:nvSpPr>
              <p:cNvPr id="245" name="Google Shape;245;p6"/>
              <p:cNvSpPr/>
              <p:nvPr/>
            </p:nvSpPr>
            <p:spPr>
              <a:xfrm>
                <a:off x="0" y="0"/>
                <a:ext cx="1447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"/>
              <p:cNvSpPr txBox="1"/>
              <p:nvPr/>
            </p:nvSpPr>
            <p:spPr>
              <a:xfrm>
                <a:off x="114300" y="95250"/>
                <a:ext cx="1219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02 MOUTH</a:t>
                </a:r>
                <a:endParaRPr sz="900" b="1" i="0" u="none" strike="noStrike" cap="none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Yawns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Count in last 60 s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7" name="Google Shape;247;p6"/>
            <p:cNvGrpSpPr/>
            <p:nvPr/>
          </p:nvGrpSpPr>
          <p:grpSpPr>
            <a:xfrm>
              <a:off x="3429000" y="857250"/>
              <a:ext cx="1524000" cy="1047900"/>
              <a:chOff x="0" y="0"/>
              <a:chExt cx="1524000" cy="1047900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0" y="0"/>
                <a:ext cx="15240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0F9FF"/>
              </a:solidFill>
              <a:ln w="9525" cap="flat" cmpd="sng">
                <a:solidFill>
                  <a:srgbClr val="BAE6F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 txBox="1"/>
              <p:nvPr/>
            </p:nvSpPr>
            <p:spPr>
              <a:xfrm>
                <a:off x="114300" y="95250"/>
                <a:ext cx="1295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03 HEAD</a:t>
                </a:r>
                <a:endParaRPr sz="900" b="1" i="0" u="none" strike="noStrike" cap="none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C4A6E"/>
                    </a:solidFill>
                    <a:latin typeface="Inter"/>
                    <a:ea typeface="Inter"/>
                    <a:cs typeface="Inter"/>
                    <a:sym typeface="Inter"/>
                  </a:rPr>
                  <a:t>Nod / tilt</a:t>
                </a:r>
                <a:endParaRPr sz="1100" b="1" i="0" u="none" strike="noStrike" cap="none">
                  <a:solidFill>
                    <a:srgbClr val="0C4A6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0369A1"/>
                    </a:solidFill>
                    <a:latin typeface="Inter"/>
                    <a:ea typeface="Inter"/>
                    <a:cs typeface="Inter"/>
                    <a:sym typeface="Inter"/>
                  </a:rPr>
                  <a:t>Pitch &gt;15°, roll &gt;20°</a:t>
                </a:r>
                <a:endParaRPr sz="950" b="0" i="0" u="none" strike="noStrike" cap="none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0" name="Google Shape;250;p6"/>
            <p:cNvGrpSpPr/>
            <p:nvPr/>
          </p:nvGrpSpPr>
          <p:grpSpPr>
            <a:xfrm>
              <a:off x="228600" y="2095500"/>
              <a:ext cx="4724400" cy="809700"/>
              <a:chOff x="0" y="0"/>
              <a:chExt cx="4724400" cy="809700"/>
            </a:xfrm>
          </p:grpSpPr>
          <p:sp>
            <p:nvSpPr>
              <p:cNvPr id="251" name="Google Shape;251;p6"/>
              <p:cNvSpPr/>
              <p:nvPr/>
            </p:nvSpPr>
            <p:spPr>
              <a:xfrm>
                <a:off x="0" y="0"/>
                <a:ext cx="47244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0F9FF"/>
              </a:solidFill>
              <a:ln w="9525" cap="flat" cmpd="sng">
                <a:solidFill>
                  <a:srgbClr val="BAE6F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6"/>
              <p:cNvSpPr txBox="1"/>
              <p:nvPr/>
            </p:nvSpPr>
            <p:spPr>
              <a:xfrm>
                <a:off x="152400" y="114300"/>
                <a:ext cx="44196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NOISE HANDLING</a:t>
                </a:r>
                <a:endParaRPr sz="1000" b="1" i="0" u="none" strike="noStrike" cap="none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0C4A6E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A closure ends only after 0.15 s of open eyes, so one noisy frame cannot reset the microsleep timer.</a:t>
                </a:r>
                <a:endParaRPr sz="1100" b="0" i="0" u="none" strike="noStrike" cap="none">
                  <a:solidFill>
                    <a:srgbClr val="0C4A6E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53" name="Google Shape;253;p6"/>
          <p:cNvGrpSpPr/>
          <p:nvPr/>
        </p:nvGrpSpPr>
        <p:grpSpPr>
          <a:xfrm>
            <a:off x="762000" y="5000625"/>
            <a:ext cx="10668000" cy="1238400"/>
            <a:chOff x="0" y="0"/>
            <a:chExt cx="10668000" cy="1238400"/>
          </a:xfrm>
        </p:grpSpPr>
        <p:sp>
          <p:nvSpPr>
            <p:cNvPr id="254" name="Google Shape;254;p6"/>
            <p:cNvSpPr/>
            <p:nvPr/>
          </p:nvSpPr>
          <p:spPr>
            <a:xfrm>
              <a:off x="0" y="0"/>
              <a:ext cx="10668000" cy="1238400"/>
            </a:xfrm>
            <a:prstGeom prst="roundRect">
              <a:avLst>
                <a:gd name="adj" fmla="val 12307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304800" y="190500"/>
              <a:ext cx="1005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EYE SCORE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Eye score: </a:t>
              </a:r>
              <a:r>
                <a:rPr lang="en-US" sz="1400" b="1" i="0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S_E = max(closed-eye ratio ÷ 0.4, current closure ÷ 1.5 s), clipped to [0, 1]. Yawn and head scores map the same way (3 yawns or 2 s of tilt → 1).</a:t>
              </a: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  <a:endParaRPr sz="1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8"/>
          <p:cNvGrpSpPr/>
          <p:nvPr/>
        </p:nvGrpSpPr>
        <p:grpSpPr>
          <a:xfrm>
            <a:off x="762000" y="381000"/>
            <a:ext cx="10668000" cy="724050"/>
            <a:chOff x="0" y="0"/>
            <a:chExt cx="10668000" cy="724050"/>
          </a:xfrm>
        </p:grpSpPr>
        <p:sp>
          <p:nvSpPr>
            <p:cNvPr id="285" name="Google Shape;285;p8"/>
            <p:cNvSpPr/>
            <p:nvPr/>
          </p:nvSpPr>
          <p:spPr>
            <a:xfrm>
              <a:off x="0" y="0"/>
              <a:ext cx="20001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8"/>
            <p:cNvSpPr txBox="1"/>
            <p:nvPr/>
          </p:nvSpPr>
          <p:spPr>
            <a:xfrm>
              <a:off x="0" y="0"/>
              <a:ext cx="20001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lang="en-US" sz="85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ALERT PIPELINE · BUILT</a:t>
              </a:r>
              <a:endParaRPr sz="85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87" name="Google Shape;287;p8"/>
            <p:cNvSpPr txBox="1"/>
            <p:nvPr/>
          </p:nvSpPr>
          <p:spPr>
            <a:xfrm>
              <a:off x="0" y="323850"/>
              <a:ext cx="10668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Decision and alert mechanism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88" name="Google Shape;288;p8"/>
          <p:cNvGrpSpPr/>
          <p:nvPr/>
        </p:nvGrpSpPr>
        <p:grpSpPr>
          <a:xfrm>
            <a:off x="762000" y="1238250"/>
            <a:ext cx="10668000" cy="1476300"/>
            <a:chOff x="762000" y="1238250"/>
            <a:chExt cx="10668000" cy="1476300"/>
          </a:xfrm>
        </p:grpSpPr>
        <p:grpSp>
          <p:nvGrpSpPr>
            <p:cNvPr id="289" name="Google Shape;289;p8"/>
            <p:cNvGrpSpPr/>
            <p:nvPr/>
          </p:nvGrpSpPr>
          <p:grpSpPr>
            <a:xfrm>
              <a:off x="762000" y="1238250"/>
              <a:ext cx="2362200" cy="1476300"/>
              <a:chOff x="0" y="0"/>
              <a:chExt cx="2362200" cy="1476300"/>
            </a:xfrm>
          </p:grpSpPr>
          <p:sp>
            <p:nvSpPr>
              <p:cNvPr id="290" name="Google Shape;290;p8"/>
              <p:cNvSpPr/>
              <p:nvPr/>
            </p:nvSpPr>
            <p:spPr>
              <a:xfrm>
                <a:off x="0" y="0"/>
                <a:ext cx="23622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0" y="0"/>
                <a:ext cx="2362200" cy="477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8"/>
              <p:cNvSpPr txBox="1"/>
              <p:nvPr/>
            </p:nvSpPr>
            <p:spPr>
              <a:xfrm>
                <a:off x="171450" y="152400"/>
                <a:ext cx="2019300" cy="11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lang="en-US" sz="85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 STEP</a:t>
                </a:r>
                <a:endParaRPr sz="85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Indicators</a:t>
                </a:r>
                <a:endParaRPr sz="1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0" i="0" u="none" strike="noStrike" cap="none">
                    <a:solidFill>
                      <a:srgbClr val="1E3A8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Eye · yawn · head</a:t>
                </a:r>
                <a:endParaRPr sz="1050" b="0" i="0" u="none" strike="noStrike" cap="none">
                  <a:solidFill>
                    <a:srgbClr val="1E3A8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Scores in [0, 1]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93" name="Google Shape;293;p8"/>
            <p:cNvSpPr/>
            <p:nvPr/>
          </p:nvSpPr>
          <p:spPr>
            <a:xfrm>
              <a:off x="3200400" y="1924050"/>
              <a:ext cx="1716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6667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4" name="Google Shape;294;p8"/>
            <p:cNvGrpSpPr/>
            <p:nvPr/>
          </p:nvGrpSpPr>
          <p:grpSpPr>
            <a:xfrm>
              <a:off x="3429000" y="1238250"/>
              <a:ext cx="2362200" cy="1476300"/>
              <a:chOff x="0" y="0"/>
              <a:chExt cx="2362200" cy="1476300"/>
            </a:xfrm>
          </p:grpSpPr>
          <p:sp>
            <p:nvSpPr>
              <p:cNvPr id="295" name="Google Shape;295;p8"/>
              <p:cNvSpPr/>
              <p:nvPr/>
            </p:nvSpPr>
            <p:spPr>
              <a:xfrm>
                <a:off x="0" y="0"/>
                <a:ext cx="23622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0" y="0"/>
                <a:ext cx="2362200" cy="477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8"/>
              <p:cNvSpPr txBox="1"/>
              <p:nvPr/>
            </p:nvSpPr>
            <p:spPr>
              <a:xfrm>
                <a:off x="171450" y="152400"/>
                <a:ext cx="2019300" cy="11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lang="en-US" sz="85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 STEP</a:t>
                </a:r>
                <a:endParaRPr sz="85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Fuse</a:t>
                </a:r>
                <a:endParaRPr sz="1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0" i="0" u="none" strike="noStrike" cap="none">
                    <a:solidFill>
                      <a:srgbClr val="1E3A8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Static weights</a:t>
                </a:r>
                <a:endParaRPr sz="1050" b="0" i="0" u="none" strike="noStrike" cap="none">
                  <a:solidFill>
                    <a:srgbClr val="1E3A8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0.5 · 0.2 · 0.3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98" name="Google Shape;298;p8"/>
            <p:cNvSpPr/>
            <p:nvPr/>
          </p:nvSpPr>
          <p:spPr>
            <a:xfrm>
              <a:off x="5867400" y="1924050"/>
              <a:ext cx="1716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6667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9" name="Google Shape;299;p8"/>
            <p:cNvGrpSpPr/>
            <p:nvPr/>
          </p:nvGrpSpPr>
          <p:grpSpPr>
            <a:xfrm>
              <a:off x="6096000" y="1238250"/>
              <a:ext cx="2362200" cy="1476300"/>
              <a:chOff x="0" y="0"/>
              <a:chExt cx="2362200" cy="1476300"/>
            </a:xfrm>
          </p:grpSpPr>
          <p:sp>
            <p:nvSpPr>
              <p:cNvPr id="300" name="Google Shape;300;p8"/>
              <p:cNvSpPr/>
              <p:nvPr/>
            </p:nvSpPr>
            <p:spPr>
              <a:xfrm>
                <a:off x="0" y="0"/>
                <a:ext cx="23622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0" y="0"/>
                <a:ext cx="2362200" cy="47700"/>
              </a:xfrm>
              <a:prstGeom prst="roundRect">
                <a:avLst>
                  <a:gd name="adj" fmla="val 50000"/>
                </a:avLst>
              </a:prstGeom>
              <a:solidFill>
                <a:srgbClr val="0EA5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8"/>
              <p:cNvSpPr txBox="1"/>
              <p:nvPr/>
            </p:nvSpPr>
            <p:spPr>
              <a:xfrm>
                <a:off x="171450" y="152400"/>
                <a:ext cx="2019300" cy="11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lang="en-US" sz="850" b="1" i="0" u="none" strike="noStrike" cap="none">
                    <a:solidFill>
                      <a:srgbClr val="0EA5E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 STEP</a:t>
                </a:r>
                <a:endParaRPr sz="85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Stabilise</a:t>
                </a:r>
                <a:endParaRPr sz="1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0" i="0" u="none" strike="noStrike" cap="none">
                    <a:solidFill>
                      <a:srgbClr val="0369A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Hysteresis</a:t>
                </a:r>
                <a:endParaRPr sz="1050" b="0" i="0" u="none" strike="noStrike" cap="none">
                  <a:solidFill>
                    <a:srgbClr val="0369A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Margin 0.05 + escalation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03" name="Google Shape;303;p8"/>
            <p:cNvSpPr/>
            <p:nvPr/>
          </p:nvSpPr>
          <p:spPr>
            <a:xfrm>
              <a:off x="8534400" y="1924050"/>
              <a:ext cx="171600" cy="95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06667" y="60000"/>
                  </a:lnTo>
                  <a:moveTo>
                    <a:pt x="80000" y="0"/>
                  </a:moveTo>
                  <a:lnTo>
                    <a:pt x="120000" y="60000"/>
                  </a:lnTo>
                  <a:lnTo>
                    <a:pt x="8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9050" cap="rnd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" name="Google Shape;304;p8"/>
            <p:cNvGrpSpPr/>
            <p:nvPr/>
          </p:nvGrpSpPr>
          <p:grpSpPr>
            <a:xfrm>
              <a:off x="8763000" y="1238250"/>
              <a:ext cx="2667000" cy="1476300"/>
              <a:chOff x="0" y="0"/>
              <a:chExt cx="2667000" cy="1476300"/>
            </a:xfrm>
          </p:grpSpPr>
          <p:sp>
            <p:nvSpPr>
              <p:cNvPr id="305" name="Google Shape;305;p8"/>
              <p:cNvSpPr/>
              <p:nvPr/>
            </p:nvSpPr>
            <p:spPr>
              <a:xfrm>
                <a:off x="0" y="0"/>
                <a:ext cx="2667000" cy="1476300"/>
              </a:xfrm>
              <a:prstGeom prst="roundRect">
                <a:avLst>
                  <a:gd name="adj" fmla="val 7741"/>
                </a:avLst>
              </a:prstGeom>
              <a:solidFill>
                <a:srgbClr val="EFF6FF"/>
              </a:solidFill>
              <a:ln w="14300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>
                <a:off x="0" y="0"/>
                <a:ext cx="2667000" cy="47700"/>
              </a:xfrm>
              <a:prstGeom prst="roundRect">
                <a:avLst>
                  <a:gd name="adj" fmla="val 50000"/>
                </a:avLst>
              </a:prstGeom>
              <a:solidFill>
                <a:srgbClr val="1D4ED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8"/>
              <p:cNvSpPr txBox="1"/>
              <p:nvPr/>
            </p:nvSpPr>
            <p:spPr>
              <a:xfrm>
                <a:off x="171450" y="152400"/>
                <a:ext cx="2324100" cy="11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lang="en-US" sz="850" b="1" i="0" u="none" strike="noStrike" cap="none">
                    <a:solidFill>
                      <a:srgbClr val="1D4ED8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04 OUTPUT</a:t>
                </a:r>
                <a:endParaRPr sz="85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Alert level</a:t>
                </a:r>
                <a:endParaRPr sz="1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25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lang="en-US" sz="1050" b="1" i="0" u="none" strike="noStrike" cap="none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Normal · 1 · 2 · 3</a:t>
                </a:r>
                <a:endParaRPr sz="1050" b="1" i="0" u="none" strike="noStrike" cap="none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5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1D4ED8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Every change logged to CSV</a:t>
                </a:r>
                <a:endParaRPr sz="950" b="0" i="0" u="none" strike="noStrike" cap="none">
                  <a:solidFill>
                    <a:srgbClr val="1D4ED8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308" name="Google Shape;308;p8"/>
          <p:cNvGrpSpPr/>
          <p:nvPr/>
        </p:nvGrpSpPr>
        <p:grpSpPr>
          <a:xfrm>
            <a:off x="762000" y="2905125"/>
            <a:ext cx="10668000" cy="723900"/>
            <a:chOff x="0" y="0"/>
            <a:chExt cx="10668000" cy="723900"/>
          </a:xfrm>
        </p:grpSpPr>
        <p:sp>
          <p:nvSpPr>
            <p:cNvPr id="309" name="Google Shape;309;p8"/>
            <p:cNvSpPr/>
            <p:nvPr/>
          </p:nvSpPr>
          <p:spPr>
            <a:xfrm>
              <a:off x="0" y="0"/>
              <a:ext cx="10668000" cy="723900"/>
            </a:xfrm>
            <a:prstGeom prst="roundRect">
              <a:avLst>
                <a:gd name="adj" fmla="val 15789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0" y="0"/>
              <a:ext cx="57300" cy="723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8"/>
            <p:cNvSpPr txBox="1"/>
            <p:nvPr/>
          </p:nvSpPr>
          <p:spPr>
            <a:xfrm>
              <a:off x="266700" y="133350"/>
              <a:ext cx="10134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FAIL LOUDLY</a:t>
              </a:r>
              <a:endParaRPr sz="9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Losing the face (head slumped, camera blocked) escalates to an alarm, and a microsleep always raises at least Level 2.</a:t>
              </a:r>
              <a:r>
                <a:rPr lang="en-US" sz="1300" b="1" i="0" u="none" strike="noStrike" cap="none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  <a:r>
                <a:rPr lang="en-US" sz="13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  <a:endParaRPr sz="13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12" name="Google Shape;312;p8"/>
          <p:cNvGrpSpPr/>
          <p:nvPr/>
        </p:nvGrpSpPr>
        <p:grpSpPr>
          <a:xfrm>
            <a:off x="762000" y="3810000"/>
            <a:ext cx="10668000" cy="2428800"/>
            <a:chOff x="762000" y="3810000"/>
            <a:chExt cx="10668000" cy="2428800"/>
          </a:xfrm>
        </p:grpSpPr>
        <p:grpSp>
          <p:nvGrpSpPr>
            <p:cNvPr id="313" name="Google Shape;313;p8"/>
            <p:cNvGrpSpPr/>
            <p:nvPr/>
          </p:nvGrpSpPr>
          <p:grpSpPr>
            <a:xfrm>
              <a:off x="762000" y="3810000"/>
              <a:ext cx="3352800" cy="2428800"/>
              <a:chOff x="0" y="0"/>
              <a:chExt cx="3352800" cy="2428800"/>
            </a:xfrm>
          </p:grpSpPr>
          <p:sp>
            <p:nvSpPr>
              <p:cNvPr id="314" name="Google Shape;314;p8"/>
              <p:cNvSpPr/>
              <p:nvPr/>
            </p:nvSpPr>
            <p:spPr>
              <a:xfrm>
                <a:off x="0" y="0"/>
                <a:ext cx="3352800" cy="2428800"/>
              </a:xfrm>
              <a:prstGeom prst="roundRect">
                <a:avLst>
                  <a:gd name="adj" fmla="val 5490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8"/>
              <p:cNvSpPr txBox="1"/>
              <p:nvPr/>
            </p:nvSpPr>
            <p:spPr>
              <a:xfrm>
                <a:off x="228600" y="228600"/>
                <a:ext cx="2895600" cy="19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rgbClr val="2563EB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 </a:t>
                </a:r>
                <a:r>
                  <a:rPr lang="en-US" sz="95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ALERT LEVEL 01</a:t>
                </a:r>
                <a:endParaRPr sz="1400" b="0" i="0" u="none" strike="noStrike" cap="none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Warning: score ≥ 0.25</a:t>
                </a:r>
                <a:endParaRPr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On screen; or face lost 3 s.</a:t>
                </a:r>
                <a:endParaRPr sz="12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7" name="Google Shape;317;p8"/>
            <p:cNvGrpSpPr/>
            <p:nvPr/>
          </p:nvGrpSpPr>
          <p:grpSpPr>
            <a:xfrm>
              <a:off x="4419600" y="3810000"/>
              <a:ext cx="3352800" cy="2428800"/>
              <a:chOff x="0" y="0"/>
              <a:chExt cx="3352800" cy="2428800"/>
            </a:xfrm>
          </p:grpSpPr>
          <p:sp>
            <p:nvSpPr>
              <p:cNvPr id="318" name="Google Shape;318;p8"/>
              <p:cNvSpPr/>
              <p:nvPr/>
            </p:nvSpPr>
            <p:spPr>
              <a:xfrm>
                <a:off x="0" y="0"/>
                <a:ext cx="3352800" cy="2428800"/>
              </a:xfrm>
              <a:prstGeom prst="roundRect">
                <a:avLst>
                  <a:gd name="adj" fmla="val 5490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F59E0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8"/>
              <p:cNvSpPr txBox="1"/>
              <p:nvPr/>
            </p:nvSpPr>
            <p:spPr>
              <a:xfrm>
                <a:off x="228600" y="228600"/>
                <a:ext cx="2895600" cy="19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rgbClr val="D9770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2 </a:t>
                </a:r>
                <a:r>
                  <a:rPr lang="en-US" sz="950" b="1" i="0" u="none" strike="noStrike" cap="none">
                    <a:solidFill>
                      <a:srgbClr val="D9770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ALERT LEVEL 02</a:t>
                </a:r>
                <a:endParaRPr sz="1400" b="0" i="0" u="none" strike="noStrike" cap="none">
                  <a:solidFill>
                    <a:srgbClr val="D9770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Alarm: score ≥ 0.45</a:t>
                </a:r>
                <a:endParaRPr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Looping sound; microsleep or face lost 6 s.</a:t>
                </a:r>
                <a:endParaRPr sz="12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1" name="Google Shape;321;p8"/>
            <p:cNvGrpSpPr/>
            <p:nvPr/>
          </p:nvGrpSpPr>
          <p:grpSpPr>
            <a:xfrm>
              <a:off x="8077200" y="3810000"/>
              <a:ext cx="3352800" cy="2428800"/>
              <a:chOff x="0" y="0"/>
              <a:chExt cx="3352800" cy="2428800"/>
            </a:xfrm>
          </p:grpSpPr>
          <p:sp>
            <p:nvSpPr>
              <p:cNvPr id="322" name="Google Shape;322;p8"/>
              <p:cNvSpPr/>
              <p:nvPr/>
            </p:nvSpPr>
            <p:spPr>
              <a:xfrm>
                <a:off x="0" y="0"/>
                <a:ext cx="3352800" cy="2428800"/>
              </a:xfrm>
              <a:prstGeom prst="roundRect">
                <a:avLst>
                  <a:gd name="adj" fmla="val 5490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8"/>
              <p:cNvSpPr txBox="1"/>
              <p:nvPr/>
            </p:nvSpPr>
            <p:spPr>
              <a:xfrm>
                <a:off x="228600" y="228600"/>
                <a:ext cx="2895600" cy="19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rgbClr val="DC2626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3 </a:t>
                </a:r>
                <a:r>
                  <a:rPr lang="en-US" sz="950" b="1" i="0" u="none" strike="noStrike" cap="none">
                    <a:solidFill>
                      <a:srgbClr val="DC262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ALERT LEVEL 03</a:t>
                </a:r>
                <a:endParaRPr sz="1400" b="0" i="0" u="none" strike="noStrike" cap="none">
                  <a:solidFill>
                    <a:srgbClr val="DC2626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Critical: score ≥ 0.65</a:t>
                </a:r>
                <a:endParaRPr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Full volume; Level 2 held 5 s or face lost 10 s.</a:t>
                </a:r>
                <a:endParaRPr sz="12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7772400" y="-1524000"/>
            <a:ext cx="5334000" cy="5334000"/>
          </a:xfrm>
          <a:prstGeom prst="ellipse">
            <a:avLst/>
          </a:prstGeom>
          <a:solidFill>
            <a:srgbClr val="E0F2FE">
              <a:alpha val="4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2"/>
          <p:cNvGrpSpPr/>
          <p:nvPr/>
        </p:nvGrpSpPr>
        <p:grpSpPr>
          <a:xfrm>
            <a:off x="762000" y="457200"/>
            <a:ext cx="2000100" cy="304800"/>
            <a:chOff x="0" y="0"/>
            <a:chExt cx="2000100" cy="304800"/>
          </a:xfrm>
        </p:grpSpPr>
        <p:sp>
          <p:nvSpPr>
            <p:cNvPr id="70" name="Google Shape;70;p2"/>
            <p:cNvSpPr/>
            <p:nvPr/>
          </p:nvSpPr>
          <p:spPr>
            <a:xfrm>
              <a:off x="0" y="0"/>
              <a:ext cx="20001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 txBox="1"/>
            <p:nvPr/>
          </p:nvSpPr>
          <p:spPr>
            <a:xfrm>
              <a:off x="0" y="0"/>
              <a:ext cx="2000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ENGINEERING &amp; VALIDATION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72" name="Google Shape;72;p2"/>
          <p:cNvSpPr txBox="1"/>
          <p:nvPr/>
        </p:nvSpPr>
        <p:spPr>
          <a:xfrm>
            <a:off x="762000" y="876300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Built as a tested, configurable software package</a:t>
            </a:r>
            <a:endParaRPr sz="2800" b="0" i="0" u="none" strike="noStrike" cap="none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762000" y="1600200"/>
            <a:ext cx="3352800" cy="3276600"/>
            <a:chOff x="0" y="0"/>
            <a:chExt cx="3352800" cy="3276600"/>
          </a:xfrm>
        </p:grpSpPr>
        <p:sp>
          <p:nvSpPr>
            <p:cNvPr id="74" name="Google Shape;74;p2"/>
            <p:cNvSpPr/>
            <p:nvPr/>
          </p:nvSpPr>
          <p:spPr>
            <a:xfrm>
              <a:off x="0" y="0"/>
              <a:ext cx="3352800" cy="327660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228600" y="228600"/>
              <a:ext cx="28956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 / SOFTWARE</a:t>
              </a:r>
              <a:endParaRPr sz="11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Interfaces: </a:t>
              </a:r>
              <a:r>
                <a:rPr lang="en-US" sz="1300" b="0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CLI (run, process, dashboard) and a Streamlit dashboard.</a:t>
              </a:r>
              <a:endParaRPr sz="13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Config: </a:t>
              </a:r>
              <a:r>
                <a:rPr lang="en-US" sz="13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every threshold and weight in one TOML file, checked on load.</a:t>
              </a:r>
              <a:endParaRPr sz="13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419600" y="1600200"/>
            <a:ext cx="3352800" cy="3276600"/>
            <a:chOff x="0" y="0"/>
            <a:chExt cx="3352800" cy="3276600"/>
          </a:xfrm>
        </p:grpSpPr>
        <p:sp>
          <p:nvSpPr>
            <p:cNvPr id="78" name="Google Shape;78;p2"/>
            <p:cNvSpPr/>
            <p:nvPr/>
          </p:nvSpPr>
          <p:spPr>
            <a:xfrm>
              <a:off x="0" y="0"/>
              <a:ext cx="3352800" cy="327660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228600" y="228600"/>
              <a:ext cx="28956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 / TESTING</a:t>
              </a:r>
              <a:endParaRPr sz="11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Automated: </a:t>
              </a:r>
              <a:r>
                <a:rPr lang="en-US" sz="1300" b="0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96 pytest tests covering signal maths, timing, alerts, calibration and camera dropouts.</a:t>
              </a:r>
              <a:endParaRPr sz="1300" b="0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End-to-end: </a:t>
              </a:r>
              <a:r>
                <a:rPr lang="en-US" sz="13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real model on recorded frames; CI on Python 3.11 and 3.12.</a:t>
              </a:r>
              <a:endParaRPr sz="13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077200" y="1600200"/>
            <a:ext cx="3352800" cy="3276600"/>
            <a:chOff x="0" y="0"/>
            <a:chExt cx="3352800" cy="3276600"/>
          </a:xfrm>
        </p:grpSpPr>
        <p:sp>
          <p:nvSpPr>
            <p:cNvPr id="82" name="Google Shape;82;p2"/>
            <p:cNvSpPr/>
            <p:nvPr/>
          </p:nvSpPr>
          <p:spPr>
            <a:xfrm>
              <a:off x="0" y="0"/>
              <a:ext cx="3352800" cy="3276600"/>
            </a:xfrm>
            <a:prstGeom prst="roundRect">
              <a:avLst>
                <a:gd name="adj" fmla="val 4651"/>
              </a:avLst>
            </a:prstGeom>
            <a:solidFill>
              <a:srgbClr val="FEF2F2"/>
            </a:solidFill>
            <a:ln w="14300" cap="flat" cmpd="sng">
              <a:solidFill>
                <a:srgbClr val="FC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0" y="0"/>
              <a:ext cx="3352800" cy="573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 txBox="1"/>
            <p:nvPr/>
          </p:nvSpPr>
          <p:spPr>
            <a:xfrm>
              <a:off x="228600" y="228600"/>
              <a:ext cx="28956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DC262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03 / RELIABILITY &amp; PRIVACY</a:t>
              </a:r>
              <a:endParaRPr sz="1100" b="1" i="0" u="none" strike="noStrike" cap="none">
                <a:solidFill>
                  <a:srgbClr val="DC262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Fails loudly: </a:t>
              </a:r>
              <a:r>
                <a:rPr lang="en-US" sz="1300" b="0" i="0" u="none" strike="noStrike" cap="none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camera dropouts are retried, then the alarm sounds until acknowledged.</a:t>
              </a:r>
              <a:endParaRPr sz="1300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991B1B"/>
                </a:buClr>
                <a:buSzPts val="1200"/>
                <a:buFont typeface="Inter"/>
                <a:buChar char="●"/>
              </a:pPr>
              <a:r>
                <a:rPr lang="en-US" sz="1200" b="0" i="0" u="none" strike="noStrike" cap="none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Dashboard listens on localhost only</a:t>
              </a:r>
              <a:endParaRPr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991B1B"/>
                </a:buClr>
                <a:buSzPts val="1200"/>
                <a:buFont typeface="Inter"/>
                <a:buChar char="●"/>
              </a:pPr>
              <a:r>
                <a:rPr lang="en-US" sz="1200" b="0" i="0" u="none" strike="noStrike" cap="none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No video saved, only signal values</a:t>
              </a:r>
              <a:endParaRPr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marR="0" lvl="0" indent="-30480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991B1B"/>
                </a:buClr>
                <a:buSzPts val="1200"/>
                <a:buFont typeface="Inter"/>
                <a:buChar char="●"/>
              </a:pPr>
              <a:r>
                <a:rPr lang="en-US" sz="1200" b="0" i="0" u="none" strike="noStrike" cap="none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Every alert change logged to CSV</a:t>
              </a:r>
              <a:endParaRPr sz="1200" b="0" i="0" u="none" strike="noStrike" cap="non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5" name="Google Shape;85;p2"/>
          <p:cNvGrpSpPr/>
          <p:nvPr/>
        </p:nvGrpSpPr>
        <p:grpSpPr>
          <a:xfrm>
            <a:off x="762000" y="5105400"/>
            <a:ext cx="10668000" cy="1143000"/>
            <a:chOff x="0" y="0"/>
            <a:chExt cx="10668000" cy="1143000"/>
          </a:xfrm>
        </p:grpSpPr>
        <p:sp>
          <p:nvSpPr>
            <p:cNvPr id="86" name="Google Shape;86;p2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0" y="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304800" y="190500"/>
              <a:ext cx="1005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Honest Limitation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Tests check behaviour, not accuracy: </a:t>
              </a:r>
              <a:r>
                <a:rPr lang="en-US" sz="1800" b="1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detection accuracy is measured in Phase 4 on labelled video.</a:t>
              </a:r>
              <a:endParaRPr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5"/>
          <p:cNvGrpSpPr/>
          <p:nvPr/>
        </p:nvGrpSpPr>
        <p:grpSpPr>
          <a:xfrm>
            <a:off x="762000" y="400050"/>
            <a:ext cx="10668000" cy="1257450"/>
            <a:chOff x="0" y="0"/>
            <a:chExt cx="10668000" cy="1257450"/>
          </a:xfrm>
        </p:grpSpPr>
        <p:sp>
          <p:nvSpPr>
            <p:cNvPr id="188" name="Google Shape;188;p5"/>
            <p:cNvSpPr/>
            <p:nvPr/>
          </p:nvSpPr>
          <p:spPr>
            <a:xfrm>
              <a:off x="0" y="0"/>
              <a:ext cx="20001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0" y="0"/>
              <a:ext cx="2000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LIVE DEMO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5"/>
            <p:cNvSpPr txBox="1"/>
            <p:nvPr/>
          </p:nvSpPr>
          <p:spPr>
            <a:xfrm>
              <a:off x="0" y="400050"/>
              <a:ext cx="1066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5"/>
                <a:buFont typeface="Arial"/>
                <a:buNone/>
              </a:pPr>
              <a:r>
                <a:rPr lang="en-US" sz="2405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What we will show</a:t>
              </a:r>
              <a:endParaRPr sz="2405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3"/>
                <a:buFont typeface="Arial"/>
                <a:buNone/>
              </a:pPr>
              <a:r>
                <a:rPr lang="en-US" sz="1203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Run live on the Streamlit dashboard: video with overlay, EAR / MAR / head angles, indicator scores, score chart and alert history.</a:t>
              </a:r>
              <a:endParaRPr sz="1203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762000" y="1857375"/>
            <a:ext cx="10668000" cy="2952900"/>
            <a:chOff x="0" y="0"/>
            <a:chExt cx="10668000" cy="2952900"/>
          </a:xfrm>
        </p:grpSpPr>
        <p:grpSp>
          <p:nvGrpSpPr>
            <p:cNvPr id="192" name="Google Shape;192;p5"/>
            <p:cNvGrpSpPr/>
            <p:nvPr/>
          </p:nvGrpSpPr>
          <p:grpSpPr>
            <a:xfrm>
              <a:off x="0" y="0"/>
              <a:ext cx="3352800" cy="2952900"/>
              <a:chOff x="0" y="0"/>
              <a:chExt cx="3352800" cy="2952900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0" y="0"/>
                <a:ext cx="3352800" cy="2952900"/>
              </a:xfrm>
              <a:prstGeom prst="roundRect">
                <a:avLst>
                  <a:gd name="adj" fmla="val 516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5"/>
              <p:cNvSpPr txBox="1"/>
              <p:nvPr/>
            </p:nvSpPr>
            <p:spPr>
              <a:xfrm>
                <a:off x="228600" y="228600"/>
                <a:ext cx="28956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2563E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01 / SCENARIO</a:t>
                </a:r>
                <a:endParaRPr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Calibrate</a:t>
                </a:r>
                <a:endParaRPr sz="22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Alert driver</a:t>
                </a:r>
                <a:endParaRPr sz="1100" b="0" i="0" u="none" strike="noStrike" cap="none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Look ahead for 5 s; the open-eye baseline is set and the status stays Normal.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6" name="Google Shape;196;p5"/>
            <p:cNvGrpSpPr/>
            <p:nvPr/>
          </p:nvGrpSpPr>
          <p:grpSpPr>
            <a:xfrm>
              <a:off x="3657600" y="0"/>
              <a:ext cx="3352800" cy="2952900"/>
              <a:chOff x="0" y="0"/>
              <a:chExt cx="3352800" cy="2952900"/>
            </a:xfrm>
          </p:grpSpPr>
          <p:sp>
            <p:nvSpPr>
              <p:cNvPr id="197" name="Google Shape;197;p5"/>
              <p:cNvSpPr/>
              <p:nvPr/>
            </p:nvSpPr>
            <p:spPr>
              <a:xfrm>
                <a:off x="0" y="0"/>
                <a:ext cx="3352800" cy="2952900"/>
              </a:xfrm>
              <a:prstGeom prst="roundRect">
                <a:avLst>
                  <a:gd name="adj" fmla="val 516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0EA5E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5"/>
              <p:cNvSpPr txBox="1"/>
              <p:nvPr/>
            </p:nvSpPr>
            <p:spPr>
              <a:xfrm>
                <a:off x="228600" y="228600"/>
                <a:ext cx="28956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0EA5E9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02 / SCENARIO</a:t>
                </a:r>
                <a:endParaRPr sz="10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Eyes closed</a:t>
                </a:r>
                <a:endParaRPr sz="22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0EA5E9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Microsleep</a:t>
                </a:r>
                <a:endParaRPr sz="1100" b="0" i="0" u="none" strike="noStrike" cap="none">
                  <a:solidFill>
                    <a:srgbClr val="0EA5E9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Keep the eyes closed for 1.5 s or more: the eye score reaches 1 and a Level 2 alarm sounds.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0" name="Google Shape;200;p5"/>
            <p:cNvGrpSpPr/>
            <p:nvPr/>
          </p:nvGrpSpPr>
          <p:grpSpPr>
            <a:xfrm>
              <a:off x="7315200" y="0"/>
              <a:ext cx="3352800" cy="2952900"/>
              <a:chOff x="0" y="0"/>
              <a:chExt cx="3352800" cy="295290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0" y="0"/>
                <a:ext cx="3352800" cy="2952900"/>
              </a:xfrm>
              <a:prstGeom prst="roundRect">
                <a:avLst>
                  <a:gd name="adj" fmla="val 5161"/>
                </a:avLst>
              </a:prstGeom>
              <a:solidFill>
                <a:srgbClr val="FFFFFF"/>
              </a:solidFill>
              <a:ln w="14300" cap="flat" cmpd="sng">
                <a:solidFill>
                  <a:srgbClr val="CBD5E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0" y="0"/>
                <a:ext cx="3352800" cy="573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 txBox="1"/>
              <p:nvPr/>
            </p:nvSpPr>
            <p:spPr>
              <a:xfrm>
                <a:off x="228600" y="228600"/>
                <a:ext cx="2895600" cy="249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0B98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03 / SCENARIO</a:t>
                </a:r>
                <a:endParaRPr sz="1000" b="1" i="0" u="none" strike="noStrike" cap="none">
                  <a:solidFill>
                    <a:srgbClr val="10B98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Arial"/>
                  <a:buNone/>
                </a:pPr>
                <a:r>
                  <a:rPr lang="en-US" sz="2200" b="0" i="0" u="none" strike="noStrike" cap="none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Yawn &amp; nod</a:t>
                </a:r>
                <a:endParaRPr sz="22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Face lost</a:t>
                </a:r>
                <a:endParaRPr sz="1100" b="0" i="0" u="none" strike="noStrike" cap="none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1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Yawns and head nods raise the score; leaving the frame escalates to an alarm.</a:t>
                </a:r>
                <a:endParaRPr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04" name="Google Shape;204;p5"/>
          <p:cNvGrpSpPr/>
          <p:nvPr/>
        </p:nvGrpSpPr>
        <p:grpSpPr>
          <a:xfrm>
            <a:off x="762000" y="5095875"/>
            <a:ext cx="10668000" cy="1143000"/>
            <a:chOff x="0" y="0"/>
            <a:chExt cx="10668000" cy="1143000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10668000" cy="11430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0" y="0"/>
              <a:ext cx="76200" cy="1143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5"/>
            <p:cNvSpPr txBox="1"/>
            <p:nvPr/>
          </p:nvSpPr>
          <p:spPr>
            <a:xfrm>
              <a:off x="304800" y="190500"/>
              <a:ext cx="10058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Traceability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Every alert level change is written to a timestamped CSV log, so each alert in the demo can be checked afterwards.</a:t>
              </a:r>
              <a:endParaRPr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>
            <a:off x="762000" y="381000"/>
            <a:ext cx="10668000" cy="1238400"/>
            <a:chOff x="0" y="0"/>
            <a:chExt cx="10668000" cy="1238400"/>
          </a:xfrm>
        </p:grpSpPr>
        <p:sp>
          <p:nvSpPr>
            <p:cNvPr id="215" name="Google Shape;215;p6"/>
            <p:cNvSpPr/>
            <p:nvPr/>
          </p:nvSpPr>
          <p:spPr>
            <a:xfrm>
              <a:off x="0" y="0"/>
              <a:ext cx="2095500" cy="3048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0" y="0"/>
              <a:ext cx="2095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CONDITIONS · PHASE 3</a:t>
              </a:r>
              <a:endParaRPr sz="10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6"/>
            <p:cNvSpPr txBox="1"/>
            <p:nvPr/>
          </p:nvSpPr>
          <p:spPr>
            <a:xfrm>
              <a:off x="0" y="381000"/>
              <a:ext cx="1066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Condition detection estimates signal reliability, not identity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 module's output provides a reliability indication for the fusion stage — not a claim that MediaPipe directly detects glasses or identity.</a:t>
              </a:r>
              <a:endPara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762000" y="1666875"/>
            <a:ext cx="5181600" cy="3143400"/>
            <a:chOff x="0" y="0"/>
            <a:chExt cx="5181600" cy="3143400"/>
          </a:xfrm>
        </p:grpSpPr>
        <p:sp>
          <p:nvSpPr>
            <p:cNvPr id="219" name="Google Shape;219;p6"/>
            <p:cNvSpPr/>
            <p:nvPr/>
          </p:nvSpPr>
          <p:spPr>
            <a:xfrm>
              <a:off x="0" y="0"/>
              <a:ext cx="5181600" cy="31434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0" y="0"/>
              <a:ext cx="51816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"/>
            <p:cNvSpPr txBox="1"/>
            <p:nvPr/>
          </p:nvSpPr>
          <p:spPr>
            <a:xfrm>
              <a:off x="228600" y="190500"/>
              <a:ext cx="47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CONDITION PIPELINE 01</a:t>
              </a:r>
              <a:endParaRPr sz="10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Low light detection</a:t>
              </a:r>
              <a:endParaRPr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22" name="Google Shape;222;p6"/>
            <p:cNvGrpSpPr/>
            <p:nvPr/>
          </p:nvGrpSpPr>
          <p:grpSpPr>
            <a:xfrm>
              <a:off x="228600" y="857250"/>
              <a:ext cx="1066800" cy="1047900"/>
              <a:chOff x="0" y="0"/>
              <a:chExt cx="1066800" cy="1047900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1066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95250" y="95250"/>
                <a:ext cx="876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01 STEP</a:t>
                </a:r>
                <a:endParaRPr sz="900" b="1" i="0" u="none" strike="noStrike" cap="non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Frame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Input image view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>
              <a:off x="1409700" y="857250"/>
              <a:ext cx="1066800" cy="1047900"/>
              <a:chOff x="0" y="0"/>
              <a:chExt cx="1066800" cy="10479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1066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95250" y="95250"/>
                <a:ext cx="876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02 STEP</a:t>
                </a:r>
                <a:endParaRPr sz="900" b="1" i="0" u="none" strike="noStrike" cap="non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Grayscale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Luminance extraction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28" name="Google Shape;228;p6"/>
            <p:cNvGrpSpPr/>
            <p:nvPr/>
          </p:nvGrpSpPr>
          <p:grpSpPr>
            <a:xfrm>
              <a:off x="2590800" y="857250"/>
              <a:ext cx="1066800" cy="1047900"/>
              <a:chOff x="0" y="0"/>
              <a:chExt cx="1066800" cy="1047900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1066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95250" y="95250"/>
                <a:ext cx="8763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03 STEP</a:t>
                </a:r>
                <a:endParaRPr sz="900" b="1" i="0" u="none" strike="noStrike" cap="non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Statistics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Brightness histogram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3771900" y="857250"/>
              <a:ext cx="1181100" cy="1047900"/>
              <a:chOff x="0" y="0"/>
              <a:chExt cx="1181100" cy="1047900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1811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95250" y="95250"/>
                <a:ext cx="9906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rPr>
                  <a:t>04 FLAG</a:t>
                </a:r>
                <a:endParaRPr sz="900" b="1" i="0" u="none" strike="noStrike" cap="none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1E3A8A"/>
                    </a:solidFill>
                    <a:latin typeface="Inter"/>
                    <a:ea typeface="Inter"/>
                    <a:cs typeface="Inter"/>
                    <a:sym typeface="Inter"/>
                  </a:rPr>
                  <a:t>Low-Light</a:t>
                </a:r>
                <a:endParaRPr sz="1100" b="1" i="0" u="none" strike="noStrike" cap="none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1E40AF"/>
                    </a:solidFill>
                    <a:latin typeface="Inter"/>
                    <a:ea typeface="Inter"/>
                    <a:cs typeface="Inter"/>
                    <a:sym typeface="Inter"/>
                  </a:rPr>
                  <a:t>Below threshold</a:t>
                </a:r>
                <a:endParaRPr sz="950" b="0" i="0" u="none" strike="noStrike" cap="none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34" name="Google Shape;234;p6"/>
            <p:cNvGrpSpPr/>
            <p:nvPr/>
          </p:nvGrpSpPr>
          <p:grpSpPr>
            <a:xfrm>
              <a:off x="228600" y="2095500"/>
              <a:ext cx="4724400" cy="809700"/>
              <a:chOff x="0" y="0"/>
              <a:chExt cx="4724400" cy="809700"/>
            </a:xfrm>
          </p:grpSpPr>
          <p:sp>
            <p:nvSpPr>
              <p:cNvPr id="235" name="Google Shape;235;p6"/>
              <p:cNvSpPr/>
              <p:nvPr/>
            </p:nvSpPr>
            <p:spPr>
              <a:xfrm>
                <a:off x="0" y="0"/>
                <a:ext cx="47244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EFF6FF"/>
              </a:solidFill>
              <a:ln w="9525" cap="flat" cmpd="sng">
                <a:solidFill>
                  <a:srgbClr val="BFDBFE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6"/>
              <p:cNvSpPr txBox="1"/>
              <p:nvPr/>
            </p:nvSpPr>
            <p:spPr>
              <a:xfrm>
                <a:off x="152400" y="114300"/>
                <a:ext cx="44196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1D4ED8"/>
                    </a:solidFill>
                    <a:latin typeface="Inter"/>
                    <a:ea typeface="Inter"/>
                    <a:cs typeface="Inter"/>
                    <a:sym typeface="Inter"/>
                  </a:rPr>
                  <a:t>FUSION OUTPUT IMPACT</a:t>
                </a:r>
                <a:endParaRPr sz="1000" b="1" i="0" u="none" strike="noStrike" cap="none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1E3A8A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Reduces confidence in visually degraded measurements when low lighting impairs frame clarity.</a:t>
                </a:r>
                <a:endParaRPr sz="1100" b="0" i="0" u="none" strike="noStrike" cap="none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37" name="Google Shape;237;p6"/>
          <p:cNvGrpSpPr/>
          <p:nvPr/>
        </p:nvGrpSpPr>
        <p:grpSpPr>
          <a:xfrm>
            <a:off x="6248400" y="1666875"/>
            <a:ext cx="5181600" cy="3143400"/>
            <a:chOff x="0" y="0"/>
            <a:chExt cx="5181600" cy="3143400"/>
          </a:xfrm>
        </p:grpSpPr>
        <p:sp>
          <p:nvSpPr>
            <p:cNvPr id="238" name="Google Shape;238;p6"/>
            <p:cNvSpPr/>
            <p:nvPr/>
          </p:nvSpPr>
          <p:spPr>
            <a:xfrm>
              <a:off x="0" y="0"/>
              <a:ext cx="5181600" cy="3143400"/>
            </a:xfrm>
            <a:prstGeom prst="roundRect">
              <a:avLst>
                <a:gd name="adj" fmla="val 484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0"/>
              <a:ext cx="51816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228600" y="190500"/>
              <a:ext cx="47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CONDITION PIPELINE 02</a:t>
              </a:r>
              <a:endParaRPr sz="10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Glasses &amp; occlusion</a:t>
              </a:r>
              <a:endParaRPr sz="18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grpSp>
          <p:nvGrpSpPr>
            <p:cNvPr id="241" name="Google Shape;241;p6"/>
            <p:cNvGrpSpPr/>
            <p:nvPr/>
          </p:nvGrpSpPr>
          <p:grpSpPr>
            <a:xfrm>
              <a:off x="228600" y="857250"/>
              <a:ext cx="1447800" cy="1047900"/>
              <a:chOff x="0" y="0"/>
              <a:chExt cx="1447800" cy="1047900"/>
            </a:xfrm>
          </p:grpSpPr>
          <p:sp>
            <p:nvSpPr>
              <p:cNvPr id="242" name="Google Shape;242;p6"/>
              <p:cNvSpPr/>
              <p:nvPr/>
            </p:nvSpPr>
            <p:spPr>
              <a:xfrm>
                <a:off x="0" y="0"/>
                <a:ext cx="1447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6"/>
              <p:cNvSpPr txBox="1"/>
              <p:nvPr/>
            </p:nvSpPr>
            <p:spPr>
              <a:xfrm>
                <a:off x="114300" y="95250"/>
                <a:ext cx="1219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01 STEP</a:t>
                </a:r>
                <a:endParaRPr sz="900" b="1" i="0" u="none" strike="noStrike" cap="none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Landmarks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Face / eye visibility patterns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4" name="Google Shape;244;p6"/>
            <p:cNvGrpSpPr/>
            <p:nvPr/>
          </p:nvGrpSpPr>
          <p:grpSpPr>
            <a:xfrm>
              <a:off x="1828800" y="857250"/>
              <a:ext cx="1447800" cy="1047900"/>
              <a:chOff x="0" y="0"/>
              <a:chExt cx="1447800" cy="1047900"/>
            </a:xfrm>
          </p:grpSpPr>
          <p:sp>
            <p:nvSpPr>
              <p:cNvPr id="245" name="Google Shape;245;p6"/>
              <p:cNvSpPr/>
              <p:nvPr/>
            </p:nvSpPr>
            <p:spPr>
              <a:xfrm>
                <a:off x="0" y="0"/>
                <a:ext cx="14478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8FAFC"/>
              </a:solidFill>
              <a:ln w="9525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6"/>
              <p:cNvSpPr txBox="1"/>
              <p:nvPr/>
            </p:nvSpPr>
            <p:spPr>
              <a:xfrm>
                <a:off x="114300" y="95250"/>
                <a:ext cx="12192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02 STEP</a:t>
                </a:r>
                <a:endParaRPr sz="900" b="1" i="0" u="none" strike="noStrike" cap="none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Reliability</a:t>
                </a:r>
                <a:endParaRPr sz="11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Eye cue weakened estimation</a:t>
                </a:r>
                <a:endParaRPr sz="950" b="0" i="0" u="none" strike="noStrike" cap="none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7" name="Google Shape;247;p6"/>
            <p:cNvGrpSpPr/>
            <p:nvPr/>
          </p:nvGrpSpPr>
          <p:grpSpPr>
            <a:xfrm>
              <a:off x="3429000" y="857250"/>
              <a:ext cx="1524000" cy="1047900"/>
              <a:chOff x="0" y="0"/>
              <a:chExt cx="1524000" cy="1047900"/>
            </a:xfrm>
          </p:grpSpPr>
          <p:sp>
            <p:nvSpPr>
              <p:cNvPr id="248" name="Google Shape;248;p6"/>
              <p:cNvSpPr/>
              <p:nvPr/>
            </p:nvSpPr>
            <p:spPr>
              <a:xfrm>
                <a:off x="0" y="0"/>
                <a:ext cx="1524000" cy="1047900"/>
              </a:xfrm>
              <a:prstGeom prst="roundRect">
                <a:avLst>
                  <a:gd name="adj" fmla="val 7272"/>
                </a:avLst>
              </a:prstGeom>
              <a:solidFill>
                <a:srgbClr val="F0F9FF"/>
              </a:solidFill>
              <a:ln w="9525" cap="flat" cmpd="sng">
                <a:solidFill>
                  <a:srgbClr val="BAE6F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6"/>
              <p:cNvSpPr txBox="1"/>
              <p:nvPr/>
            </p:nvSpPr>
            <p:spPr>
              <a:xfrm>
                <a:off x="114300" y="95250"/>
                <a:ext cx="12954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03 FLAG</a:t>
                </a:r>
                <a:endParaRPr sz="900" b="1" i="0" u="none" strike="noStrike" cap="none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1" i="0" u="none" strike="noStrike" cap="none">
                    <a:solidFill>
                      <a:srgbClr val="0C4A6E"/>
                    </a:solidFill>
                    <a:latin typeface="Inter"/>
                    <a:ea typeface="Inter"/>
                    <a:cs typeface="Inter"/>
                    <a:sym typeface="Inter"/>
                  </a:rPr>
                  <a:t>Occlusion</a:t>
                </a:r>
                <a:endParaRPr sz="1100" b="1" i="0" u="none" strike="noStrike" cap="none">
                  <a:solidFill>
                    <a:srgbClr val="0C4A6E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rPr lang="en-US" sz="950" b="0" i="0" u="none" strike="noStrike" cap="none">
                    <a:solidFill>
                      <a:srgbClr val="0369A1"/>
                    </a:solidFill>
                    <a:latin typeface="Inter"/>
                    <a:ea typeface="Inter"/>
                    <a:cs typeface="Inter"/>
                    <a:sym typeface="Inter"/>
                  </a:rPr>
                  <a:t>Eye-region obstruction indication</a:t>
                </a:r>
                <a:endParaRPr sz="950" b="0" i="0" u="none" strike="noStrike" cap="none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0" name="Google Shape;250;p6"/>
            <p:cNvGrpSpPr/>
            <p:nvPr/>
          </p:nvGrpSpPr>
          <p:grpSpPr>
            <a:xfrm>
              <a:off x="228600" y="2095500"/>
              <a:ext cx="4724400" cy="809700"/>
              <a:chOff x="0" y="0"/>
              <a:chExt cx="4724400" cy="809700"/>
            </a:xfrm>
          </p:grpSpPr>
          <p:sp>
            <p:nvSpPr>
              <p:cNvPr id="251" name="Google Shape;251;p6"/>
              <p:cNvSpPr/>
              <p:nvPr/>
            </p:nvSpPr>
            <p:spPr>
              <a:xfrm>
                <a:off x="0" y="0"/>
                <a:ext cx="4724400" cy="809700"/>
              </a:xfrm>
              <a:prstGeom prst="roundRect">
                <a:avLst>
                  <a:gd name="adj" fmla="val 11764"/>
                </a:avLst>
              </a:prstGeom>
              <a:solidFill>
                <a:srgbClr val="F0F9FF"/>
              </a:solidFill>
              <a:ln w="9525" cap="flat" cmpd="sng">
                <a:solidFill>
                  <a:srgbClr val="BAE6F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6"/>
              <p:cNvSpPr txBox="1"/>
              <p:nvPr/>
            </p:nvSpPr>
            <p:spPr>
              <a:xfrm>
                <a:off x="152400" y="114300"/>
                <a:ext cx="44196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FUSION OUTPUT IMPACT</a:t>
                </a:r>
                <a:endParaRPr sz="1000" b="1" i="0" u="none" strike="noStrike" cap="none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100" b="0" i="0" u="none" strike="noStrike" cap="none">
                    <a:solidFill>
                      <a:srgbClr val="0C4A6E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Reduces eye-signal weight during occlusion rather than attempting to infer driver identity.</a:t>
                </a:r>
                <a:endParaRPr sz="1100" b="0" i="0" u="none" strike="noStrike" cap="none">
                  <a:solidFill>
                    <a:srgbClr val="0C4A6E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253" name="Google Shape;253;p6"/>
          <p:cNvGrpSpPr/>
          <p:nvPr/>
        </p:nvGrpSpPr>
        <p:grpSpPr>
          <a:xfrm>
            <a:off x="762000" y="5000625"/>
            <a:ext cx="10668000" cy="1238400"/>
            <a:chOff x="0" y="0"/>
            <a:chExt cx="10668000" cy="1238400"/>
          </a:xfrm>
        </p:grpSpPr>
        <p:sp>
          <p:nvSpPr>
            <p:cNvPr id="254" name="Google Shape;254;p6"/>
            <p:cNvSpPr/>
            <p:nvPr/>
          </p:nvSpPr>
          <p:spPr>
            <a:xfrm>
              <a:off x="0" y="0"/>
              <a:ext cx="10668000" cy="1238400"/>
            </a:xfrm>
            <a:prstGeom prst="roundRect">
              <a:avLst>
                <a:gd name="adj" fmla="val 12307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304800" y="190500"/>
              <a:ext cx="10058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FORMAL DEFINITION &amp; PRINCIPLE</a:t>
              </a:r>
              <a:endParaRPr sz="110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Formal definition: </a:t>
              </a:r>
              <a:r>
                <a:rPr lang="en-US" sz="1400" b="1" i="0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Ct ∈ {Normal, Low-Light, Eye-Occluded, …}</a:t>
              </a:r>
              <a:r>
                <a:rPr lang="en-US" sz="1400" b="0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is a discrete detected condition state estimated at each timestep to inform how much each facial signal influences the fused drowsiness score.</a:t>
              </a:r>
              <a:endParaRPr sz="14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7"/>
          <p:cNvGrpSpPr/>
          <p:nvPr/>
        </p:nvGrpSpPr>
        <p:grpSpPr>
          <a:xfrm>
            <a:off x="762000" y="381000"/>
            <a:ext cx="10668000" cy="1047750"/>
            <a:chOff x="0" y="0"/>
            <a:chExt cx="10668000" cy="1047750"/>
          </a:xfrm>
        </p:grpSpPr>
        <p:sp>
          <p:nvSpPr>
            <p:cNvPr id="264" name="Google Shape;264;p7"/>
            <p:cNvSpPr/>
            <p:nvPr/>
          </p:nvSpPr>
          <p:spPr>
            <a:xfrm>
              <a:off x="0" y="0"/>
              <a:ext cx="14289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7"/>
            <p:cNvSpPr txBox="1"/>
            <p:nvPr/>
          </p:nvSpPr>
          <p:spPr>
            <a:xfrm>
              <a:off x="0" y="0"/>
              <a:ext cx="1428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PHASE 3 · NEXT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0" y="323850"/>
              <a:ext cx="106680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Condition-aware adaptive signal fusion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Dynamically reweights eye, mouth, and pose signals based on estimated environmental reliability.</a:t>
              </a:r>
              <a:endParaRPr sz="12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762000" y="1476375"/>
            <a:ext cx="5143500" cy="2952900"/>
            <a:chOff x="0" y="0"/>
            <a:chExt cx="5143500" cy="2952900"/>
          </a:xfrm>
        </p:grpSpPr>
        <p:sp>
          <p:nvSpPr>
            <p:cNvPr id="268" name="Google Shape;268;p7"/>
            <p:cNvSpPr/>
            <p:nvPr/>
          </p:nvSpPr>
          <p:spPr>
            <a:xfrm>
              <a:off x="0" y="0"/>
              <a:ext cx="5143500" cy="29529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0" y="0"/>
              <a:ext cx="5143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228600" y="190500"/>
              <a:ext cx="4686300" cy="2571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FORMULATION</a:t>
              </a:r>
              <a:endParaRPr sz="10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Mathematical Model</a:t>
              </a:r>
              <a:endParaRPr sz="10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1. Signal Reliability Range</a:t>
              </a:r>
              <a:endParaRPr sz="9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1" u="none" strike="noStrike" cap="none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Ri(Ct) ∈ [0, 1]</a:t>
              </a:r>
              <a:endParaRPr sz="1300" b="1" i="1" u="none" strike="noStrike" cap="non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2. Normalized Weight Calculation</a:t>
              </a:r>
              <a:endParaRPr sz="9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1" u="none" strike="noStrike" cap="none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wi(Ct) = Ri(Ct) / ∑j Rj(Ct)</a:t>
              </a:r>
              <a:endParaRPr sz="1300" b="1" i="1" u="none" strike="noStrike" cap="non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Inter"/>
                  <a:ea typeface="Inter"/>
                  <a:cs typeface="Inter"/>
                  <a:sym typeface="Inter"/>
                </a:rPr>
                <a:t>3. Fused Drowsiness Score</a:t>
              </a:r>
              <a:endParaRPr sz="900" b="1" i="0" u="none" strike="noStrike" cap="none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1" u="none" strike="noStrike" cap="none">
                  <a:solidFill>
                    <a:srgbClr val="1E3A8A"/>
                  </a:solidFill>
                  <a:latin typeface="Georgia"/>
                  <a:ea typeface="Georgia"/>
                  <a:cs typeface="Georgia"/>
                  <a:sym typeface="Georgia"/>
                </a:rPr>
                <a:t>Dt = ∑i wi(Ct) · Si(t)</a:t>
              </a:r>
              <a:endParaRPr sz="1400" b="1" i="1" u="none" strike="noStrike" cap="none">
                <a:solidFill>
                  <a:srgbClr val="1E3A8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71" name="Google Shape;271;p7"/>
          <p:cNvSpPr/>
          <p:nvPr/>
        </p:nvSpPr>
        <p:spPr>
          <a:xfrm>
            <a:off x="6286500" y="1476375"/>
            <a:ext cx="5143500" cy="29529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43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6286500" y="1476375"/>
            <a:ext cx="5143500" cy="573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3" name="Google Shape;273;p7"/>
          <p:cNvGraphicFramePr/>
          <p:nvPr/>
        </p:nvGraphicFramePr>
        <p:xfrm>
          <a:off x="6515100" y="1666875"/>
          <a:ext cx="4686300" cy="2571750"/>
        </p:xfrm>
        <a:graphic>
          <a:graphicData uri="http://schemas.openxmlformats.org/drawingml/2006/table">
            <a:tbl>
              <a:tblPr>
                <a:noFill/>
                <a:tableStyleId>{FA9D7CE9-3E9B-4E1B-8E02-99D5D7299D64}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Condition</a:t>
                      </a:r>
                      <a:endParaRPr sz="1000" b="1" u="none" strike="noStrike" cap="none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B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1D4ED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EAR</a:t>
                      </a:r>
                      <a:endParaRPr sz="1000" b="1" u="none" strike="noStrike" cap="none">
                        <a:solidFill>
                          <a:srgbClr val="1D4ED8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B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284C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MAR</a:t>
                      </a:r>
                      <a:endParaRPr sz="1000" b="1" u="none" strike="noStrike" cap="none">
                        <a:solidFill>
                          <a:srgbClr val="0284C7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B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Head Pose</a:t>
                      </a:r>
                      <a:endParaRPr sz="1000" b="1" u="none" strike="noStrike" cap="none">
                        <a:solidFill>
                          <a:srgbClr val="0596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B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Normal (= static)</a:t>
                      </a:r>
                      <a:endParaRPr sz="1000" b="1" u="none" strike="noStrike" cap="none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D4ED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0.50</a:t>
                      </a:r>
                      <a:endParaRPr sz="1200" b="1" u="none" strike="noStrike" cap="none">
                        <a:solidFill>
                          <a:srgbClr val="1D4ED8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0.20</a:t>
                      </a:r>
                      <a:endParaRPr sz="1100" b="1" u="none" strike="noStrike" cap="none">
                        <a:solidFill>
                          <a:srgbClr val="64748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0.30</a:t>
                      </a:r>
                      <a:endParaRPr sz="1100" b="1" u="none" strike="noStrike" cap="none">
                        <a:solidFill>
                          <a:srgbClr val="64748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Low-light</a:t>
                      </a:r>
                      <a:endParaRPr sz="1000" b="1" u="none" strike="noStrike" cap="none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0.20</a:t>
                      </a:r>
                      <a:endParaRPr sz="1100" b="1" u="none" strike="noStrike" cap="none">
                        <a:solidFill>
                          <a:srgbClr val="64748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284C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0.35</a:t>
                      </a:r>
                      <a:endParaRPr sz="1100" b="1" u="none" strike="noStrike" cap="none">
                        <a:solidFill>
                          <a:srgbClr val="0284C7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0.45</a:t>
                      </a:r>
                      <a:endParaRPr sz="1200" b="1" u="none" strike="noStrike" cap="none">
                        <a:solidFill>
                          <a:srgbClr val="0596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Eye-region occlusion</a:t>
                      </a:r>
                      <a:endParaRPr sz="950" b="1" u="none" strike="noStrike" cap="none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0.20</a:t>
                      </a:r>
                      <a:endParaRPr sz="1100" b="1" u="none" strike="noStrike" cap="none">
                        <a:solidFill>
                          <a:srgbClr val="64748B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284C7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0.35</a:t>
                      </a:r>
                      <a:endParaRPr sz="1100" b="1" u="none" strike="noStrike" cap="none">
                        <a:solidFill>
                          <a:srgbClr val="0284C7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5966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0.45</a:t>
                      </a:r>
                      <a:endParaRPr sz="1200" b="1" u="none" strike="noStrike" cap="none">
                        <a:solidFill>
                          <a:srgbClr val="059669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76200" marR="76200" marT="76200" marB="7620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4" name="Google Shape;274;p7"/>
          <p:cNvGrpSpPr/>
          <p:nvPr/>
        </p:nvGrpSpPr>
        <p:grpSpPr>
          <a:xfrm>
            <a:off x="762000" y="4619625"/>
            <a:ext cx="10668000" cy="1857300"/>
            <a:chOff x="0" y="0"/>
            <a:chExt cx="10668000" cy="1857300"/>
          </a:xfrm>
        </p:grpSpPr>
        <p:sp>
          <p:nvSpPr>
            <p:cNvPr id="275" name="Google Shape;275;p7"/>
            <p:cNvSpPr/>
            <p:nvPr/>
          </p:nvSpPr>
          <p:spPr>
            <a:xfrm>
              <a:off x="0" y="0"/>
              <a:ext cx="10668000" cy="1857300"/>
            </a:xfrm>
            <a:prstGeom prst="roundRect">
              <a:avLst>
                <a:gd name="adj" fmla="val 8205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0" y="0"/>
              <a:ext cx="76200" cy="18573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"/>
            <p:cNvSpPr txBox="1"/>
            <p:nvPr/>
          </p:nvSpPr>
          <p:spPr>
            <a:xfrm>
              <a:off x="304800" y="133350"/>
              <a:ext cx="10058400" cy="1590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38BDF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NOTATION &amp; DEFINITIONS</a:t>
              </a:r>
              <a:endParaRPr sz="9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1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i ∈ {E, M, H}</a:t>
              </a:r>
              <a:r>
                <a:rPr lang="en-US" sz="950" b="1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: Eye, Mouth, and Head-pose signals</a:t>
              </a:r>
              <a:endParaRPr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1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wi(Ct)</a:t>
              </a:r>
              <a:r>
                <a:rPr lang="en-US" sz="950" b="1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: Normalized fusion weight</a:t>
              </a:r>
              <a:endParaRPr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1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Ct</a:t>
              </a:r>
              <a:r>
                <a:rPr lang="en-US" sz="950" b="1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: Detected condition at time t</a:t>
              </a:r>
              <a:endParaRPr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1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Si(t)</a:t>
              </a:r>
              <a:r>
                <a:rPr lang="en-US" sz="950" b="1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: Normalized drowsiness score from signal i</a:t>
              </a:r>
              <a:endParaRPr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1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Ri(Ct)</a:t>
              </a:r>
              <a:r>
                <a:rPr lang="en-US" sz="950" b="1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: Estimated reliability of signal i under condition Ct</a:t>
              </a:r>
              <a:endParaRPr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1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Dt</a:t>
              </a:r>
              <a:r>
                <a:rPr lang="en-US" sz="950" b="1" i="0" u="none" strike="noStrike" cap="non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: Fused drowsiness score</a:t>
              </a:r>
              <a:endParaRPr sz="9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lang="en-US" sz="850" b="0" i="0" u="none" strike="noStrike" cap="none">
                  <a:solidFill>
                    <a:srgbClr val="38BDF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Note: Initial weights shown in example table; final values determined experimentally.</a:t>
              </a:r>
              <a:endParaRPr sz="85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9"/>
          <p:cNvGrpSpPr/>
          <p:nvPr/>
        </p:nvGrpSpPr>
        <p:grpSpPr>
          <a:xfrm>
            <a:off x="762000" y="381000"/>
            <a:ext cx="10668000" cy="724050"/>
            <a:chOff x="0" y="0"/>
            <a:chExt cx="10668000" cy="724050"/>
          </a:xfrm>
        </p:grpSpPr>
        <p:sp>
          <p:nvSpPr>
            <p:cNvPr id="332" name="Google Shape;332;p9"/>
            <p:cNvSpPr/>
            <p:nvPr/>
          </p:nvSpPr>
          <p:spPr>
            <a:xfrm>
              <a:off x="0" y="0"/>
              <a:ext cx="17145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"/>
            <p:cNvSpPr txBox="1"/>
            <p:nvPr/>
          </p:nvSpPr>
          <p:spPr>
            <a:xfrm>
              <a:off x="0" y="0"/>
              <a:ext cx="17145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EVALUATION · PHASE 4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34" name="Google Shape;334;p9"/>
            <p:cNvSpPr txBox="1"/>
            <p:nvPr/>
          </p:nvSpPr>
          <p:spPr>
            <a:xfrm>
              <a:off x="0" y="323850"/>
              <a:ext cx="10668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Evaluation plan: static baseline vs. adaptive fusion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35" name="Google Shape;335;p9"/>
          <p:cNvGrpSpPr/>
          <p:nvPr/>
        </p:nvGrpSpPr>
        <p:grpSpPr>
          <a:xfrm>
            <a:off x="762000" y="1200150"/>
            <a:ext cx="5181600" cy="1666800"/>
            <a:chOff x="0" y="0"/>
            <a:chExt cx="5181600" cy="1666800"/>
          </a:xfrm>
        </p:grpSpPr>
        <p:sp>
          <p:nvSpPr>
            <p:cNvPr id="336" name="Google Shape;336;p9"/>
            <p:cNvSpPr/>
            <p:nvPr/>
          </p:nvSpPr>
          <p:spPr>
            <a:xfrm>
              <a:off x="0" y="0"/>
              <a:ext cx="5181600" cy="16668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0" y="0"/>
              <a:ext cx="5181600" cy="47700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228600" y="171450"/>
              <a:ext cx="47244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01 BASELINES</a:t>
              </a:r>
              <a:endParaRPr sz="900" b="1" i="0" u="none" strike="noStrike" cap="non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Static fusion (built now)</a:t>
              </a:r>
              <a:endParaRPr sz="16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Fixed weights 0.5 / 0.2 / 0.3, the baseline system built in Phase 2.</a:t>
              </a:r>
              <a:endParaRPr sz="11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Purpose: </a:t>
              </a:r>
              <a:r>
                <a:rPr lang="en-US" sz="1000" b="0" i="0" u="none" strike="noStrike" cap="none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Reference systems run on identical inputs.</a:t>
              </a:r>
              <a:endParaRPr sz="100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39" name="Google Shape;339;p9"/>
          <p:cNvGrpSpPr/>
          <p:nvPr/>
        </p:nvGrpSpPr>
        <p:grpSpPr>
          <a:xfrm>
            <a:off x="6248400" y="1200150"/>
            <a:ext cx="5181600" cy="1666800"/>
            <a:chOff x="0" y="0"/>
            <a:chExt cx="5181600" cy="1666800"/>
          </a:xfrm>
        </p:grpSpPr>
        <p:sp>
          <p:nvSpPr>
            <p:cNvPr id="340" name="Google Shape;340;p9"/>
            <p:cNvSpPr/>
            <p:nvPr/>
          </p:nvSpPr>
          <p:spPr>
            <a:xfrm>
              <a:off x="0" y="0"/>
              <a:ext cx="5181600" cy="16668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0" y="0"/>
              <a:ext cx="5181600" cy="47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"/>
            <p:cNvSpPr txBox="1"/>
            <p:nvPr/>
          </p:nvSpPr>
          <p:spPr>
            <a:xfrm>
              <a:off x="228600" y="171450"/>
              <a:ext cx="4724400" cy="13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02 PROPOSED</a:t>
              </a:r>
              <a:endParaRPr sz="9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Condition-aware adaptive fusion</a:t>
              </a:r>
              <a:endParaRPr sz="16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Condition-dependent weights estimated from low-light and eye-region reliability cues.</a:t>
              </a:r>
              <a:endParaRPr sz="11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1" i="0" u="none" strike="noStrike" cap="non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Purpose:</a:t>
              </a:r>
              <a:r>
                <a:rPr lang="en-US" sz="1000" b="0" i="0" u="none" strike="noStrike" cap="none">
                  <a:solidFill>
                    <a:srgbClr val="1D4ED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Test whether adaptation improves robustness under adverse conditions.</a:t>
              </a:r>
              <a:endParaRPr sz="1000" b="0" i="0" u="none" strike="noStrike" cap="non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43" name="Google Shape;343;p9"/>
          <p:cNvGrpSpPr/>
          <p:nvPr/>
        </p:nvGrpSpPr>
        <p:grpSpPr>
          <a:xfrm>
            <a:off x="762000" y="3019425"/>
            <a:ext cx="10668000" cy="685800"/>
            <a:chOff x="0" y="0"/>
            <a:chExt cx="10668000" cy="685800"/>
          </a:xfrm>
        </p:grpSpPr>
        <p:sp>
          <p:nvSpPr>
            <p:cNvPr id="344" name="Google Shape;344;p9"/>
            <p:cNvSpPr/>
            <p:nvPr/>
          </p:nvSpPr>
          <p:spPr>
            <a:xfrm>
              <a:off x="0" y="0"/>
              <a:ext cx="10668000" cy="685800"/>
            </a:xfrm>
            <a:prstGeom prst="roundRect">
              <a:avLst>
                <a:gd name="adj" fmla="val 16666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0" y="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9"/>
            <p:cNvSpPr txBox="1"/>
            <p:nvPr/>
          </p:nvSpPr>
          <p:spPr>
            <a:xfrm>
              <a:off x="266700" y="114300"/>
              <a:ext cx="10134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5"/>
                <a:buFont typeface="Arial"/>
                <a:buNone/>
              </a:pPr>
              <a:r>
                <a:rPr lang="en-US" sz="765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CANDIDATE DATASETS</a:t>
              </a:r>
              <a:endParaRPr sz="765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25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Arial"/>
                <a:buNone/>
              </a:pPr>
              <a:r>
                <a:rPr lang="en-US" sz="935" b="1" i="0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Public datasets (YawDD, NTHU-DDD; suitability to be verified) plus self-recorded clips for glasses and low light. The built process command already exports per-frame signals from any video for scoring.</a:t>
              </a:r>
              <a:r>
                <a:rPr lang="en-US" sz="935" b="0" i="0" u="none" strike="noStrike" cap="none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/>
              </a:r>
              <a:endParaRPr sz="935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7" name="Google Shape;347;p9"/>
          <p:cNvSpPr/>
          <p:nvPr/>
        </p:nvSpPr>
        <p:spPr>
          <a:xfrm>
            <a:off x="762000" y="3762375"/>
            <a:ext cx="10668000" cy="2619300"/>
          </a:xfrm>
          <a:prstGeom prst="roundRect">
            <a:avLst>
              <a:gd name="adj" fmla="val 5090"/>
            </a:avLst>
          </a:prstGeom>
          <a:solidFill>
            <a:srgbClr val="FFFFFF"/>
          </a:solidFill>
          <a:ln w="143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62000" y="3762375"/>
            <a:ext cx="10668000" cy="477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9"/>
          <p:cNvGraphicFramePr/>
          <p:nvPr/>
        </p:nvGraphicFramePr>
        <p:xfrm>
          <a:off x="990600" y="3952875"/>
          <a:ext cx="10210800" cy="2238375"/>
        </p:xfrm>
        <a:graphic>
          <a:graphicData uri="http://schemas.openxmlformats.org/drawingml/2006/table">
            <a:tbl>
              <a:tblPr>
                <a:noFill/>
                <a:tableStyleId>{FA9D7CE9-3E9B-4E1B-8E02-99D5D7299D64}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Evaluation axis</a:t>
                      </a:r>
                      <a:endParaRPr sz="1100" b="0" u="none" strike="noStrike" cap="none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52400" marR="152400" marT="76200" marB="76200">
                    <a:lnB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solidFill>
                            <a:srgbClr val="0F172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Protocol</a:t>
                      </a:r>
                      <a:endParaRPr sz="1100" b="0" u="none" strike="noStrike" cap="none">
                        <a:solidFill>
                          <a:srgbClr val="0F172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52400" marR="152400" marT="76200" marB="76200">
                    <a:lnB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3A8A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Conditions</a:t>
                      </a:r>
                      <a:endParaRPr sz="1100" b="1" u="none" strike="noStrike" cap="none">
                        <a:solidFill>
                          <a:srgbClr val="1E3A8A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52400" marR="152400" marT="95250" marB="95250">
                    <a:lnT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Normal lighting, low lighting, glasses/no glasses, and different subjects.</a:t>
                      </a:r>
                      <a:endParaRPr sz="1050" b="0" u="none" strike="noStrike" cap="none">
                        <a:solidFill>
                          <a:srgbClr val="334155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52400" marR="152400" marT="95250" marB="95250">
                    <a:lnT w="19050" cap="flat" cmpd="sng">
                      <a:solidFill>
                        <a:srgbClr val="0F17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3A8A"/>
                          </a:solidFill>
                          <a:highlight>
                            <a:srgbClr val="F8FAFC"/>
                          </a:highlight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Metrics</a:t>
                      </a:r>
                      <a:endParaRPr sz="1100" b="1" u="none" strike="noStrike" cap="none">
                        <a:solidFill>
                          <a:srgbClr val="1E3A8A"/>
                        </a:solidFill>
                        <a:highlight>
                          <a:srgbClr val="F8FAFC"/>
                        </a:highlight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52400" marR="152400" marT="95250" marB="9525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Accuracy, precision, recall, F1-score, false positive rate, false negative rate, FPS/latency.</a:t>
                      </a:r>
                      <a:endParaRPr sz="1050" b="0" u="none" strike="noStrike" cap="none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152400" marR="152400" marT="95250" marB="9525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3A8A"/>
                          </a:solidFill>
                          <a:highlight>
                            <a:srgbClr val="EFF6FF"/>
                          </a:highlight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Reporting</a:t>
                      </a:r>
                      <a:endParaRPr sz="1100" b="1" u="none" strike="noStrike" cap="none">
                        <a:solidFill>
                          <a:srgbClr val="1E3A8A"/>
                        </a:solidFill>
                        <a:highlight>
                          <a:srgbClr val="EFF6FF"/>
                        </a:highlight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52400" marR="152400" marT="95250" marB="9525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0F172A"/>
                          </a:solidFill>
                          <a:highlight>
                            <a:srgbClr val="EFF6FF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Report normal and adverse conditions separately</a:t>
                      </a:r>
                      <a:r>
                        <a:rPr lang="en-US" sz="1050">
                          <a:solidFill>
                            <a:srgbClr val="0F172A"/>
                          </a:solidFill>
                          <a:highlight>
                            <a:srgbClr val="EFF6FF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, </a:t>
                      </a:r>
                      <a:r>
                        <a:rPr lang="en-US" sz="1050" b="0" u="none" strike="noStrike" cap="none">
                          <a:solidFill>
                            <a:srgbClr val="0F172A"/>
                          </a:solidFill>
                          <a:highlight>
                            <a:srgbClr val="EFF6FF"/>
                          </a:highlight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 do not rely on overall accuracy alone.</a:t>
                      </a:r>
                      <a:endParaRPr sz="1050" b="0" u="none" strike="noStrike" cap="none">
                        <a:solidFill>
                          <a:srgbClr val="0F172A"/>
                        </a:solidFill>
                        <a:highlight>
                          <a:srgbClr val="EFF6FF"/>
                        </a:highlight>
                        <a:latin typeface="Inter SemiBold"/>
                        <a:ea typeface="Inter SemiBold"/>
                        <a:cs typeface="Inter SemiBold"/>
                        <a:sym typeface="Inter SemiBold"/>
                      </a:endParaRPr>
                    </a:p>
                  </a:txBody>
                  <a:tcPr marL="152400" marR="152400" marT="95250" marB="95250"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" name="Google Shape;356;p10"/>
          <p:cNvGrpSpPr/>
          <p:nvPr/>
        </p:nvGrpSpPr>
        <p:grpSpPr>
          <a:xfrm>
            <a:off x="762000" y="381000"/>
            <a:ext cx="10668000" cy="800250"/>
            <a:chOff x="0" y="0"/>
            <a:chExt cx="10668000" cy="800250"/>
          </a:xfrm>
        </p:grpSpPr>
        <p:sp>
          <p:nvSpPr>
            <p:cNvPr id="357" name="Google Shape;357;p10"/>
            <p:cNvSpPr/>
            <p:nvPr/>
          </p:nvSpPr>
          <p:spPr>
            <a:xfrm>
              <a:off x="0" y="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0"/>
            <p:cNvSpPr txBox="1"/>
            <p:nvPr/>
          </p:nvSpPr>
          <p:spPr>
            <a:xfrm>
              <a:off x="0" y="0"/>
              <a:ext cx="1524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NEXT STEPS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9" name="Google Shape;359;p10"/>
            <p:cNvSpPr txBox="1"/>
            <p:nvPr/>
          </p:nvSpPr>
          <p:spPr>
            <a:xfrm>
              <a:off x="0" y="323850"/>
              <a:ext cx="1066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Plan from mid-sem to endsem</a:t>
              </a:r>
              <a:endParaRPr sz="2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60" name="Google Shape;360;p10"/>
          <p:cNvGrpSpPr/>
          <p:nvPr/>
        </p:nvGrpSpPr>
        <p:grpSpPr>
          <a:xfrm>
            <a:off x="762000" y="1285875"/>
            <a:ext cx="1981200" cy="2952900"/>
            <a:chOff x="0" y="0"/>
            <a:chExt cx="1981200" cy="2952900"/>
          </a:xfrm>
        </p:grpSpPr>
        <p:sp>
          <p:nvSpPr>
            <p:cNvPr id="361" name="Google Shape;361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1E3A8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E3A8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STEP 01</a:t>
              </a:r>
              <a:endParaRPr sz="900" b="1" i="0" u="none" strike="noStrike" cap="non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Low-light cue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Frame brightness statistics give a low-light flag.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4" name="Google Shape;364;p10"/>
          <p:cNvGrpSpPr/>
          <p:nvPr/>
        </p:nvGrpSpPr>
        <p:grpSpPr>
          <a:xfrm>
            <a:off x="2933700" y="1285875"/>
            <a:ext cx="1981200" cy="2952900"/>
            <a:chOff x="0" y="0"/>
            <a:chExt cx="1981200" cy="2952900"/>
          </a:xfrm>
        </p:grpSpPr>
        <p:sp>
          <p:nvSpPr>
            <p:cNvPr id="365" name="Google Shape;365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STEP 02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Occlusion cue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Eye-landmark reliability gives a glasses/occlusion flag.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8" name="Google Shape;368;p10"/>
          <p:cNvGrpSpPr/>
          <p:nvPr/>
        </p:nvGrpSpPr>
        <p:grpSpPr>
          <a:xfrm>
            <a:off x="5105400" y="1285875"/>
            <a:ext cx="1981200" cy="2952900"/>
            <a:chOff x="0" y="0"/>
            <a:chExt cx="1981200" cy="2952900"/>
          </a:xfrm>
        </p:grpSpPr>
        <p:sp>
          <p:nvSpPr>
            <p:cNvPr id="369" name="Google Shape;369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9050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STEP 03 · CE-2, NOV 1</a:t>
              </a:r>
              <a:endParaRPr sz="9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Adaptive fusion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Condition-dependent weights behind the fusion interface.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2" name="Google Shape;372;p10"/>
          <p:cNvGrpSpPr/>
          <p:nvPr/>
        </p:nvGrpSpPr>
        <p:grpSpPr>
          <a:xfrm>
            <a:off x="7277100" y="1285875"/>
            <a:ext cx="1981200" cy="2952900"/>
            <a:chOff x="0" y="0"/>
            <a:chExt cx="1981200" cy="2952900"/>
          </a:xfrm>
        </p:grpSpPr>
        <p:sp>
          <p:nvSpPr>
            <p:cNvPr id="373" name="Google Shape;373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STEP 04</a:t>
              </a:r>
              <a:endParaRPr sz="9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Evaluation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Datasets + own clips; per-condition metrics vs. baselines.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6" name="Google Shape;376;p10"/>
          <p:cNvGrpSpPr/>
          <p:nvPr/>
        </p:nvGrpSpPr>
        <p:grpSpPr>
          <a:xfrm>
            <a:off x="9448800" y="1285875"/>
            <a:ext cx="1981200" cy="2952900"/>
            <a:chOff x="0" y="0"/>
            <a:chExt cx="1981200" cy="2952900"/>
          </a:xfrm>
        </p:grpSpPr>
        <p:sp>
          <p:nvSpPr>
            <p:cNvPr id="377" name="Google Shape;377;p10"/>
            <p:cNvSpPr/>
            <p:nvPr/>
          </p:nvSpPr>
          <p:spPr>
            <a:xfrm>
              <a:off x="0" y="0"/>
              <a:ext cx="1981200" cy="2952900"/>
            </a:xfrm>
            <a:prstGeom prst="roundRect">
              <a:avLst>
                <a:gd name="adj" fmla="val 6730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0"/>
            <p:cNvSpPr/>
            <p:nvPr/>
          </p:nvSpPr>
          <p:spPr>
            <a:xfrm>
              <a:off x="0" y="0"/>
              <a:ext cx="1981200" cy="57300"/>
            </a:xfrm>
            <a:prstGeom prst="roundRect">
              <a:avLst>
                <a:gd name="adj" fmla="val 50000"/>
              </a:avLst>
            </a:prstGeom>
            <a:solidFill>
              <a:srgbClr val="0284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0"/>
            <p:cNvSpPr txBox="1"/>
            <p:nvPr/>
          </p:nvSpPr>
          <p:spPr>
            <a:xfrm>
              <a:off x="190500" y="228600"/>
              <a:ext cx="16002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284C7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STEP 05 · ENDSEM</a:t>
              </a:r>
              <a:endParaRPr sz="900" b="1" i="0" u="none" strike="noStrike" cap="non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Report &amp; demo</a:t>
              </a:r>
              <a:endParaRPr sz="15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en-US" sz="105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Tune thresholds, polish dashboard, final report.</a:t>
              </a:r>
              <a:endParaRPr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80" name="Google Shape;380;p10"/>
          <p:cNvGrpSpPr/>
          <p:nvPr/>
        </p:nvGrpSpPr>
        <p:grpSpPr>
          <a:xfrm>
            <a:off x="762000" y="4476750"/>
            <a:ext cx="10668000" cy="1666800"/>
            <a:chOff x="0" y="0"/>
            <a:chExt cx="10668000" cy="1666800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10668000" cy="1666800"/>
            </a:xfrm>
            <a:prstGeom prst="roundRect">
              <a:avLst>
                <a:gd name="adj" fmla="val 9142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0" y="0"/>
              <a:ext cx="76200" cy="16668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0"/>
            <p:cNvSpPr txBox="1"/>
            <p:nvPr/>
          </p:nvSpPr>
          <p:spPr>
            <a:xfrm>
              <a:off x="304800" y="228600"/>
              <a:ext cx="10058400" cy="12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LIMITATIONS</a:t>
              </a:r>
              <a:endParaRPr sz="95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Thresholds and weights are untuned starting values, and detection accuracy has not been measured yet.</a:t>
              </a:r>
              <a:endParaRPr sz="1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93C5FD"/>
                  </a:solidFill>
                  <a:latin typeface="Inter"/>
                  <a:ea typeface="Inter"/>
                  <a:cs typeface="Inter"/>
                  <a:sym typeface="Inter"/>
                </a:rPr>
                <a:t>With static weights, yawning alone never alerts and head tilt alone only reaches Level 1; adaptive fusion and tuning address this.</a:t>
              </a:r>
              <a:endParaRPr sz="1100" b="0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/>
          <p:nvPr/>
        </p:nvSpPr>
        <p:spPr>
          <a:xfrm>
            <a:off x="-666750" y="3619500"/>
            <a:ext cx="4191000" cy="4191000"/>
          </a:xfrm>
          <a:prstGeom prst="ellipse">
            <a:avLst/>
          </a:prstGeom>
          <a:solidFill>
            <a:srgbClr val="EEF2FF">
              <a:alpha val="60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solidFill>
            <a:srgbClr val="E0F2FE">
              <a:alpha val="5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11"/>
          <p:cNvGrpSpPr/>
          <p:nvPr/>
        </p:nvGrpSpPr>
        <p:grpSpPr>
          <a:xfrm>
            <a:off x="762000" y="666750"/>
            <a:ext cx="1333500" cy="285900"/>
            <a:chOff x="0" y="0"/>
            <a:chExt cx="1333500" cy="285900"/>
          </a:xfrm>
        </p:grpSpPr>
        <p:sp>
          <p:nvSpPr>
            <p:cNvPr id="391" name="Google Shape;391;p11"/>
            <p:cNvSpPr/>
            <p:nvPr/>
          </p:nvSpPr>
          <p:spPr>
            <a:xfrm>
              <a:off x="0" y="0"/>
              <a:ext cx="1333500" cy="28590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1"/>
            <p:cNvSpPr txBox="1"/>
            <p:nvPr/>
          </p:nvSpPr>
          <p:spPr>
            <a:xfrm>
              <a:off x="0" y="0"/>
              <a:ext cx="133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1D4ED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THANK YOU</a:t>
              </a:r>
              <a:endParaRPr sz="900" b="1" i="0" u="none" strike="noStrike" cap="non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393" name="Google Shape;393;p11"/>
          <p:cNvSpPr txBox="1"/>
          <p:nvPr/>
        </p:nvSpPr>
        <p:spPr>
          <a:xfrm>
            <a:off x="762000" y="1095375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Thank You for Your Attention</a:t>
            </a:r>
            <a:endParaRPr sz="1600" b="0" i="0" u="none" strike="noStrike" cap="none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94" name="Google Shape;394;p11"/>
          <p:cNvGrpSpPr/>
          <p:nvPr/>
        </p:nvGrpSpPr>
        <p:grpSpPr>
          <a:xfrm>
            <a:off x="762000" y="2381250"/>
            <a:ext cx="10668000" cy="1724025"/>
            <a:chOff x="0" y="0"/>
            <a:chExt cx="10668000" cy="1724025"/>
          </a:xfrm>
        </p:grpSpPr>
        <p:sp>
          <p:nvSpPr>
            <p:cNvPr id="395" name="Google Shape;395;p11"/>
            <p:cNvSpPr/>
            <p:nvPr/>
          </p:nvSpPr>
          <p:spPr>
            <a:xfrm>
              <a:off x="0" y="0"/>
              <a:ext cx="10668000" cy="1714500"/>
            </a:xfrm>
            <a:prstGeom prst="roundRect">
              <a:avLst>
                <a:gd name="adj" fmla="val 8888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0" y="9525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1"/>
            <p:cNvSpPr txBox="1"/>
            <p:nvPr/>
          </p:nvSpPr>
          <p:spPr>
            <a:xfrm>
              <a:off x="342900" y="228600"/>
              <a:ext cx="99822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en-US" sz="950" b="1" i="0" u="none" strike="noStrike" cap="none">
                  <a:solidFill>
                    <a:srgbClr val="60A5F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PROJECT TITLE</a:t>
              </a:r>
              <a:endParaRPr sz="95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-US" sz="2600" b="0" i="0" u="none" strike="noStrike" cap="none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Real-Time Driver Drowsiness Detection</a:t>
              </a:r>
              <a:endParaRPr sz="95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93C5F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with Condition-Aware Adaptive Signal Fusion</a:t>
              </a:r>
              <a:endParaRPr sz="950" b="1" i="0" u="none" strike="noStrike" cap="none">
                <a:solidFill>
                  <a:srgbClr val="60A5F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98" name="Google Shape;398;p11"/>
          <p:cNvGrpSpPr/>
          <p:nvPr/>
        </p:nvGrpSpPr>
        <p:grpSpPr>
          <a:xfrm>
            <a:off x="762000" y="4476750"/>
            <a:ext cx="5181600" cy="1714500"/>
            <a:chOff x="0" y="0"/>
            <a:chExt cx="5181600" cy="1714500"/>
          </a:xfrm>
        </p:grpSpPr>
        <p:sp>
          <p:nvSpPr>
            <p:cNvPr id="399" name="Google Shape;399;p11"/>
            <p:cNvSpPr/>
            <p:nvPr/>
          </p:nvSpPr>
          <p:spPr>
            <a:xfrm>
              <a:off x="0" y="0"/>
              <a:ext cx="5181600" cy="17145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0" y="0"/>
              <a:ext cx="51816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1"/>
            <p:cNvSpPr txBox="1"/>
            <p:nvPr/>
          </p:nvSpPr>
          <p:spPr>
            <a:xfrm>
              <a:off x="266700" y="228600"/>
              <a:ext cx="46482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2563E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DONE</a:t>
              </a:r>
              <a:endParaRPr sz="9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Real-Time System</a:t>
              </a:r>
              <a:endParaRPr sz="9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Signals, calibration, fusion, 3-level alerts, dashboard.</a:t>
              </a:r>
              <a:endParaRPr sz="900" b="1" i="0" u="none" strike="noStrike" cap="non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402" name="Google Shape;402;p11"/>
          <p:cNvGrpSpPr/>
          <p:nvPr/>
        </p:nvGrpSpPr>
        <p:grpSpPr>
          <a:xfrm>
            <a:off x="6248400" y="4476750"/>
            <a:ext cx="5181600" cy="1714500"/>
            <a:chOff x="1828800" y="0"/>
            <a:chExt cx="5181600" cy="1714500"/>
          </a:xfrm>
        </p:grpSpPr>
        <p:sp>
          <p:nvSpPr>
            <p:cNvPr id="403" name="Google Shape;403;p11"/>
            <p:cNvSpPr/>
            <p:nvPr/>
          </p:nvSpPr>
          <p:spPr>
            <a:xfrm>
              <a:off x="1828800" y="0"/>
              <a:ext cx="5181600" cy="1714500"/>
            </a:xfrm>
            <a:prstGeom prst="roundRect">
              <a:avLst>
                <a:gd name="adj" fmla="val 8888"/>
              </a:avLst>
            </a:prstGeom>
            <a:solidFill>
              <a:srgbClr val="FFFFFF"/>
            </a:solidFill>
            <a:ln w="14300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1828800" y="0"/>
              <a:ext cx="5181600" cy="57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1"/>
            <p:cNvSpPr txBox="1"/>
            <p:nvPr/>
          </p:nvSpPr>
          <p:spPr>
            <a:xfrm>
              <a:off x="2095500" y="228600"/>
              <a:ext cx="4648200" cy="1257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1" i="0" u="none" strike="noStrike" cap="none">
                  <a:solidFill>
                    <a:srgbClr val="0EA5E9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NEXT</a:t>
              </a:r>
              <a:endParaRPr sz="9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Adaptive Fusion</a:t>
              </a:r>
              <a:endParaRPr sz="9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Condition-aware reweighting for low light &amp; glasses.</a:t>
              </a:r>
              <a:endParaRPr sz="9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C0C0C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Microsoft Office PowerPoint</Application>
  <PresentationFormat>Widescreen</PresentationFormat>
  <Paragraphs>250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Inter SemiBold</vt:lpstr>
      <vt:lpstr>Inter ExtraBold</vt:lpstr>
      <vt:lpstr>Inter</vt:lpstr>
      <vt:lpstr>Inter Medium</vt:lpstr>
      <vt:lpstr>Times New Roman</vt:lpstr>
      <vt:lpstr>Space Grotesk</vt:lpstr>
      <vt:lpstr>Georgia</vt:lpstr>
      <vt:lpstr>Fira Code</vt:lpstr>
      <vt:lpstr>Calibri</vt:lpstr>
      <vt:lpstr>Fira Code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YAGNANG ACHARYA</cp:lastModifiedBy>
  <cp:revision>1</cp:revision>
  <dcterms:created xsi:type="dcterms:W3CDTF">2026-09-19T08:07:42Z</dcterms:created>
  <dcterms:modified xsi:type="dcterms:W3CDTF">2026-09-20T17:09:12Z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2026-09-19T00:00:00Z</vt:filetime>
  </property>
  <property fmtid="{D5CDD505-2E9C-101B-9397-08002B2CF9AE}" pid="6" name="Producer">
    <vt:lpwstr>pdf-lib (https://github.com/Hopding/pdf-lib)</vt:lpwstr>
  </property>
</Properties>
</file>